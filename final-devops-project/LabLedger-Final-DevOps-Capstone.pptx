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126480" y="0"/>
            <a:ext cx="0" cy="6858000"/>
          </a:xfrm>
          <a:prstGeom prst="line">
            <a:avLst/>
          </a:prstGeom>
          <a:ln w="5715">
            <a:solidFill>
              <a:srgbClr val="1527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5715">
            <a:solidFill>
              <a:srgbClr val="1527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955279" y="0"/>
            <a:ext cx="0" cy="6858000"/>
          </a:xfrm>
          <a:prstGeom prst="line">
            <a:avLst/>
          </a:prstGeom>
          <a:ln w="5715">
            <a:solidFill>
              <a:srgbClr val="1527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869680" y="0"/>
            <a:ext cx="0" cy="6858000"/>
          </a:xfrm>
          <a:prstGeom prst="line">
            <a:avLst/>
          </a:prstGeom>
          <a:ln w="5715">
            <a:solidFill>
              <a:srgbClr val="1527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784080" y="0"/>
            <a:ext cx="0" cy="6858000"/>
          </a:xfrm>
          <a:prstGeom prst="line">
            <a:avLst/>
          </a:prstGeom>
          <a:ln w="5715">
            <a:solidFill>
              <a:srgbClr val="1527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98480" y="0"/>
            <a:ext cx="0" cy="6858000"/>
          </a:xfrm>
          <a:prstGeom prst="line">
            <a:avLst/>
          </a:prstGeom>
          <a:ln w="5715">
            <a:solidFill>
              <a:srgbClr val="1527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612880" y="0"/>
            <a:ext cx="0" cy="6858000"/>
          </a:xfrm>
          <a:prstGeom prst="line">
            <a:avLst/>
          </a:prstGeom>
          <a:ln w="5715">
            <a:solidFill>
              <a:srgbClr val="1527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943600" y="914400"/>
            <a:ext cx="6245352" cy="0"/>
          </a:xfrm>
          <a:prstGeom prst="line">
            <a:avLst/>
          </a:prstGeom>
          <a:ln w="5715">
            <a:solidFill>
              <a:srgbClr val="1527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943600" y="1828800"/>
            <a:ext cx="6245352" cy="0"/>
          </a:xfrm>
          <a:prstGeom prst="line">
            <a:avLst/>
          </a:prstGeom>
          <a:ln w="5715">
            <a:solidFill>
              <a:srgbClr val="1527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943600" y="2743200"/>
            <a:ext cx="6245352" cy="0"/>
          </a:xfrm>
          <a:prstGeom prst="line">
            <a:avLst/>
          </a:prstGeom>
          <a:ln w="5715">
            <a:solidFill>
              <a:srgbClr val="1527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43600" y="3657600"/>
            <a:ext cx="6245352" cy="0"/>
          </a:xfrm>
          <a:prstGeom prst="line">
            <a:avLst/>
          </a:prstGeom>
          <a:ln w="5715">
            <a:solidFill>
              <a:srgbClr val="1527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943600" y="4572000"/>
            <a:ext cx="6245352" cy="0"/>
          </a:xfrm>
          <a:prstGeom prst="line">
            <a:avLst/>
          </a:prstGeom>
          <a:ln w="5715">
            <a:solidFill>
              <a:srgbClr val="1527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943600" y="5486400"/>
            <a:ext cx="6245352" cy="0"/>
          </a:xfrm>
          <a:prstGeom prst="line">
            <a:avLst/>
          </a:prstGeom>
          <a:ln w="5715">
            <a:solidFill>
              <a:srgbClr val="1527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943600" y="6400800"/>
            <a:ext cx="6245352" cy="0"/>
          </a:xfrm>
          <a:prstGeom prst="line">
            <a:avLst/>
          </a:prstGeom>
          <a:ln w="5715">
            <a:solidFill>
              <a:srgbClr val="1527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30936" y="603504"/>
            <a:ext cx="100584" cy="429768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69494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7D6E9"/>
                </a:solidFill>
                <a:latin typeface="Courier New"/>
              </a:defRPr>
            </a:pPr>
            <a:r>
              <a:t>FINAL DEVOPS CAPSTONE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1298448"/>
            <a:ext cx="5596128" cy="2542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Arial"/>
              </a:defRPr>
            </a:pPr>
            <a:r>
              <a:t>One app.</a:t>
            </a:r>
            <a:br/>
            <a:r>
              <a:t>An entire</a:t>
            </a:r>
            <a:br/>
            <a:r>
              <a:t>delivery system.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242816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B8F26A"/>
                </a:solidFill>
                <a:latin typeface="Arial"/>
              </a:defRPr>
            </a:pPr>
            <a:r>
              <a:t>LabLedger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736592"/>
            <a:ext cx="5074920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1DEEB"/>
                </a:solidFill>
                <a:latin typeface="Arial"/>
              </a:defRPr>
            </a:pPr>
            <a:r>
              <a:t>Campus equipment lending, built and proven across code, containers, Kubernetes and AWS.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1243584"/>
            <a:ext cx="5650992" cy="4178808"/>
          </a:xfrm>
          <a:prstGeom prst="roundRect">
            <a:avLst>
              <a:gd name="adj" fmla="val 8000"/>
            </a:avLst>
          </a:prstGeom>
          <a:solidFill>
            <a:srgbClr val="203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80760" y="1097280"/>
            <a:ext cx="5650992" cy="4178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49-aws-application-browser.png"/>
          <p:cNvPicPr>
            <a:picLocks noChangeAspect="1"/>
          </p:cNvPicPr>
          <p:nvPr/>
        </p:nvPicPr>
        <p:blipFill>
          <a:blip r:embed="rId2"/>
          <a:srcRect t="1000" l="11193" r="11193"/>
          <a:stretch>
            <a:fillRect/>
          </a:stretch>
        </p:blipFill>
        <p:spPr>
          <a:xfrm>
            <a:off x="6153912" y="1170432"/>
            <a:ext cx="5504688" cy="4032504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080760" y="1097280"/>
            <a:ext cx="5650992" cy="4178808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C9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92240" y="5532120"/>
            <a:ext cx="3794760" cy="301752"/>
          </a:xfrm>
          <a:prstGeom prst="roundRect">
            <a:avLst>
              <a:gd name="adj" fmla="val 8000"/>
            </a:avLst>
          </a:prstGeom>
          <a:solidFill>
            <a:srgbClr val="1937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2824" y="5605272"/>
            <a:ext cx="359359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7D6E9"/>
                </a:solidFill>
                <a:latin typeface="Courier New"/>
              </a:defRPr>
            </a:pPr>
            <a:r>
              <a:t>ACTUAL AWS EKS RUN · 15 OCT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199632"/>
            <a:ext cx="44805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B3C6"/>
                </a:solidFill>
                <a:latin typeface="Arial"/>
              </a:defRPr>
            </a:pPr>
            <a:r>
              <a:t>Shivam Jaiswal   •   Session 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6190488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9DB3C6"/>
                </a:solidFill>
                <a:latin typeface="Courier New"/>
              </a:defRPr>
            </a:pPr>
            <a: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" y="457200"/>
            <a:ext cx="100584" cy="356616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F927B"/>
                </a:solidFill>
                <a:latin typeface="Courier New"/>
              </a:defRPr>
            </a:pPr>
            <a:r>
              <a:t>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4183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43A"/>
                </a:solidFill>
                <a:latin typeface="Arial"/>
              </a:defRPr>
            </a:pPr>
            <a:r>
              <a:t>A real product, with a real delivery story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6464808"/>
            <a:ext cx="10872216" cy="0"/>
          </a:xfrm>
          <a:prstGeom prst="line">
            <a:avLst/>
          </a:prstGeom>
          <a:ln w="1016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54710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738397"/>
                </a:solidFill>
                <a:latin typeface="Courier New"/>
              </a:defRPr>
            </a:pPr>
            <a:r>
              <a:t>LABLEDGER  /  SESSION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54710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738397"/>
                </a:solidFill>
                <a:latin typeface="Arial"/>
              </a:defRPr>
            </a:pPr>
            <a:r>
              <a:t>README.md · Requirement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8208" y="6547104"/>
            <a:ext cx="704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738397"/>
                </a:solidFill>
                <a:latin typeface="Courier New"/>
              </a:defRPr>
            </a:pPr>
            <a:r>
              <a:t>02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56231"/>
            <a:ext cx="237744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F927B"/>
                </a:solidFill>
                <a:latin typeface="Arial"/>
              </a:defRPr>
            </a:pPr>
            <a:r>
              <a:t>The 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58568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3243A"/>
                </a:solidFill>
                <a:latin typeface="Arial"/>
              </a:defRPr>
            </a:pPr>
            <a:r>
              <a:t>Can a small team ship a reliable lending desk, then prove every layer works?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4944" y="3456432"/>
            <a:ext cx="10744200" cy="0"/>
          </a:xfrm>
          <a:prstGeom prst="line">
            <a:avLst/>
          </a:prstGeom>
          <a:ln w="25400">
            <a:solidFill>
              <a:srgbClr val="1324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4944" y="3785615"/>
            <a:ext cx="9144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300" b="1">
                <a:solidFill>
                  <a:srgbClr val="31C9A6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4590288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3243A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5102352"/>
            <a:ext cx="3172968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5D6C7C"/>
                </a:solidFill>
                <a:latin typeface="Arial"/>
              </a:defRPr>
            </a:pPr>
            <a:r>
              <a:t>Inventory, checkout, returns and history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23944" y="3794760"/>
            <a:ext cx="0" cy="1938528"/>
          </a:xfrm>
          <a:prstGeom prst="line">
            <a:avLst/>
          </a:prstGeom>
          <a:ln w="1270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389120" y="3785615"/>
            <a:ext cx="9144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300" b="1">
                <a:solidFill>
                  <a:srgbClr val="77D6E9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590288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3243A"/>
                </a:solidFill>
                <a:latin typeface="Arial"/>
              </a:defRPr>
            </a:pPr>
            <a:r>
              <a:t>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102352"/>
            <a:ext cx="3172968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5D6C7C"/>
                </a:solidFill>
                <a:latin typeface="Arial"/>
              </a:defRPr>
            </a:pPr>
            <a:r>
              <a:t>Test, scan, build and promote both CPU variants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818120" y="3794760"/>
            <a:ext cx="0" cy="1938528"/>
          </a:xfrm>
          <a:prstGeom prst="line">
            <a:avLst/>
          </a:prstGeom>
          <a:ln w="1270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083296" y="3785615"/>
            <a:ext cx="91440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300" b="1">
                <a:solidFill>
                  <a:srgbClr val="FF9E79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6" y="4590288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3243A"/>
                </a:solidFill>
                <a:latin typeface="Arial"/>
              </a:defRPr>
            </a:pPr>
            <a:r>
              <a:t>OPERATE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83296" y="5102352"/>
            <a:ext cx="3172968" cy="649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5D6C7C"/>
                </a:solidFill>
                <a:latin typeface="Arial"/>
              </a:defRPr>
            </a:pPr>
            <a:r>
              <a:t>Observe, break, recover and clean 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" y="605332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D6C7C"/>
                </a:solidFill>
                <a:latin typeface="Arial"/>
              </a:defRPr>
            </a:pPr>
            <a:r>
              <a:t>The presentation follows the proof from business rule → release → running system → teardown.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" y="457200"/>
            <a:ext cx="100584" cy="356616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F927B"/>
                </a:solidFill>
                <a:latin typeface="Courier New"/>
              </a:defRPr>
            </a:pPr>
            <a:r>
              <a:t>PRODUCT / LIVE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4183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43A"/>
                </a:solidFill>
                <a:latin typeface="Arial"/>
              </a:defRPr>
            </a:pPr>
            <a:r>
              <a:t>This is the service people actually use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6464808"/>
            <a:ext cx="10872216" cy="0"/>
          </a:xfrm>
          <a:prstGeom prst="line">
            <a:avLst/>
          </a:prstGeom>
          <a:ln w="1016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54710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738397"/>
                </a:solidFill>
                <a:latin typeface="Courier New"/>
              </a:defRPr>
            </a:pPr>
            <a:r>
              <a:t>LABLEDGER  /  SESSION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54710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738397"/>
                </a:solidFill>
                <a:latin typeface="Arial"/>
              </a:defRPr>
            </a:pPr>
            <a:r>
              <a:t>Output/49-aws-application-browser.png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8208" y="6547104"/>
            <a:ext cx="704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738397"/>
                </a:solidFill>
                <a:latin typeface="Courier New"/>
              </a:defRPr>
            </a:pPr>
            <a:r>
              <a:t>03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" y="1865376"/>
            <a:ext cx="7525512" cy="4315968"/>
          </a:xfrm>
          <a:prstGeom prst="roundRect">
            <a:avLst>
              <a:gd name="adj" fmla="val 8000"/>
            </a:avLst>
          </a:prstGeom>
          <a:solidFill>
            <a:srgbClr val="203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19072"/>
            <a:ext cx="7525512" cy="4315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49-aws-application-browser.png"/>
          <p:cNvPicPr>
            <a:picLocks noChangeAspect="1"/>
          </p:cNvPicPr>
          <p:nvPr/>
        </p:nvPicPr>
        <p:blipFill>
          <a:blip r:embed="rId2"/>
          <a:srcRect t="1000" b="308"/>
          <a:stretch>
            <a:fillRect/>
          </a:stretch>
        </p:blipFill>
        <p:spPr>
          <a:xfrm>
            <a:off x="740664" y="1792224"/>
            <a:ext cx="7379208" cy="416966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67512" y="1719072"/>
            <a:ext cx="7525512" cy="4315968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C9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31352" y="1737360"/>
            <a:ext cx="2962656" cy="4224528"/>
          </a:xfrm>
          <a:prstGeom prst="roundRect">
            <a:avLst>
              <a:gd name="adj" fmla="val 8000"/>
            </a:avLst>
          </a:prstGeom>
          <a:solidFill>
            <a:srgbClr val="0B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199339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7D6E9"/>
                </a:solidFill>
                <a:latin typeface="Courier New"/>
              </a:defRPr>
            </a:pPr>
            <a:r>
              <a:t>CAMPUS EQUIPMENT DESK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2386584"/>
            <a:ext cx="2377440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Inventory</a:t>
            </a:r>
            <a:br/>
            <a:r>
              <a:t>→ checkout</a:t>
            </a:r>
            <a:br/>
            <a:r>
              <a:t>→ return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23960" y="4343400"/>
            <a:ext cx="2322576" cy="0"/>
          </a:xfrm>
          <a:prstGeom prst="line">
            <a:avLst/>
          </a:prstGeom>
          <a:ln w="12700">
            <a:solidFill>
              <a:srgbClr val="3652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823960" y="4636008"/>
            <a:ext cx="23225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6D6E4"/>
                </a:solidFill>
                <a:latin typeface="Arial"/>
              </a:defRPr>
            </a:pPr>
            <a:r>
              <a:t>Search, filter and lending history are visible in the running React UI.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144768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D6C7C"/>
                </a:solidFill>
                <a:latin typeface="Arial"/>
              </a:defRPr>
            </a:pPr>
            <a:r>
              <a:t>Recorded browser evidence from the temporary AWS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" y="457200"/>
            <a:ext cx="100584" cy="356616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7D6E9"/>
                </a:solidFill>
                <a:latin typeface="Courier New"/>
              </a:defRPr>
            </a:pPr>
            <a:r>
              <a:t>PRODUCT / CORRECTNESS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4183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Arial"/>
              </a:defRPr>
            </a:pPr>
            <a:r>
              <a:t>One unit left. Two people click borrow.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6464808"/>
            <a:ext cx="10872216" cy="0"/>
          </a:xfrm>
          <a:prstGeom prst="line">
            <a:avLst/>
          </a:prstGeom>
          <a:ln w="10160">
            <a:solidFill>
              <a:srgbClr val="3147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54710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8CA4BA"/>
                </a:solidFill>
                <a:latin typeface="Courier New"/>
              </a:defRPr>
            </a:pPr>
            <a:r>
              <a:t>LABLEDGER  /  SESSION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54710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8CA4BA"/>
                </a:solidFill>
                <a:latin typeface="Arial"/>
              </a:defRPr>
            </a:pPr>
            <a:r>
              <a:t>README.md · Business behavior; scripts/verify.py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8208" y="6547104"/>
            <a:ext cx="704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8CA4BA"/>
                </a:solidFill>
                <a:latin typeface="Courier New"/>
              </a:defRPr>
            </a:pPr>
            <a:r>
              <a:t>04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783080"/>
            <a:ext cx="196596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77D6E9"/>
                </a:solidFill>
                <a:latin typeface="Arial"/>
              </a:defRPr>
            </a:pPr>
            <a:r>
              <a:t>The invariant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112264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B8F26A"/>
                </a:solidFill>
                <a:latin typeface="Arial"/>
              </a:defRPr>
            </a:pPr>
            <a:r>
              <a:t>Stock cannot go negative.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36392"/>
            <a:ext cx="2971800" cy="612648"/>
          </a:xfrm>
          <a:prstGeom prst="roundRect">
            <a:avLst>
              <a:gd name="adj" fmla="val 8000"/>
            </a:avLst>
          </a:prstGeom>
          <a:solidFill>
            <a:srgbClr val="15253C"/>
          </a:solidFill>
          <a:ln w="12700">
            <a:solidFill>
              <a:srgbClr val="37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337560"/>
            <a:ext cx="25146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77D6E9"/>
                </a:solidFill>
                <a:latin typeface="Courier New"/>
              </a:defRPr>
            </a:pPr>
            <a:r>
              <a:t>REQUEST A  /  BORROW 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21608" y="3447288"/>
            <a:ext cx="832104" cy="0"/>
          </a:xfrm>
          <a:prstGeom prst="line">
            <a:avLst/>
          </a:prstGeom>
          <a:ln w="25400">
            <a:solidFill>
              <a:srgbClr val="77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4544568" y="3378708"/>
            <a:ext cx="146304" cy="137160"/>
          </a:xfrm>
          <a:prstGeom prst="triangle">
            <a:avLst/>
          </a:prstGeom>
          <a:solidFill>
            <a:srgbClr val="77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3232" y="4078224"/>
            <a:ext cx="2971800" cy="612648"/>
          </a:xfrm>
          <a:prstGeom prst="roundRect">
            <a:avLst>
              <a:gd name="adj" fmla="val 8000"/>
            </a:avLst>
          </a:prstGeom>
          <a:solidFill>
            <a:srgbClr val="15253C"/>
          </a:solidFill>
          <a:ln w="12700">
            <a:solidFill>
              <a:srgbClr val="3751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79392"/>
            <a:ext cx="25146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9E79"/>
                </a:solidFill>
                <a:latin typeface="Courier New"/>
              </a:defRPr>
            </a:pPr>
            <a:r>
              <a:t>REQUEST B  /  BORROW 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21608" y="4389120"/>
            <a:ext cx="832104" cy="0"/>
          </a:xfrm>
          <a:prstGeom prst="line">
            <a:avLst/>
          </a:prstGeom>
          <a:ln w="25400">
            <a:solidFill>
              <a:srgbClr val="FF9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4544568" y="4320540"/>
            <a:ext cx="146304" cy="137160"/>
          </a:xfrm>
          <a:prstGeom prst="triangle">
            <a:avLst/>
          </a:prstGeom>
          <a:solidFill>
            <a:srgbClr val="F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72584" y="3364992"/>
            <a:ext cx="2715768" cy="1426464"/>
          </a:xfrm>
          <a:prstGeom prst="roundRect">
            <a:avLst>
              <a:gd name="adj" fmla="val 8000"/>
            </a:avLst>
          </a:prstGeom>
          <a:solidFill>
            <a:srgbClr val="20334B"/>
          </a:solidFill>
          <a:ln w="12700">
            <a:solidFill>
              <a:srgbClr val="5871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28616" y="3602736"/>
            <a:ext cx="2240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POSTGRESQL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28616" y="4059936"/>
            <a:ext cx="224028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7D6E9"/>
                </a:solidFill>
                <a:latin typeface="Arial"/>
              </a:defRPr>
            </a:pPr>
            <a:r>
              <a:t>row lock + constraint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424927" y="4078224"/>
            <a:ext cx="585217" cy="0"/>
          </a:xfrm>
          <a:prstGeom prst="line">
            <a:avLst/>
          </a:prstGeom>
          <a:ln w="25400">
            <a:solidFill>
              <a:srgbClr val="31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8001000" y="4009644"/>
            <a:ext cx="146304" cy="137160"/>
          </a:xfrm>
          <a:prstGeom prst="triangle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47304" y="3099816"/>
            <a:ext cx="3291840" cy="667512"/>
          </a:xfrm>
          <a:prstGeom prst="roundRect">
            <a:avLst>
              <a:gd name="adj" fmla="val 8000"/>
            </a:avLst>
          </a:prstGeom>
          <a:solidFill>
            <a:srgbClr val="183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75904" y="3300984"/>
            <a:ext cx="292608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B8F26A"/>
                </a:solidFill>
                <a:latin typeface="Arial"/>
              </a:defRPr>
            </a:pPr>
            <a:r>
              <a:t>201   one checkout succeeds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47304" y="3977639"/>
            <a:ext cx="3291840" cy="667512"/>
          </a:xfrm>
          <a:prstGeom prst="roundRect">
            <a:avLst>
              <a:gd name="adj" fmla="val 8000"/>
            </a:avLst>
          </a:prstGeom>
          <a:solidFill>
            <a:srgbClr val="4A2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75904" y="4178808"/>
            <a:ext cx="292608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B29E"/>
                </a:solidFill>
                <a:latin typeface="Arial"/>
              </a:defRPr>
            </a:pPr>
            <a:r>
              <a:t>409   oversubscription rejected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3232" y="5230368"/>
            <a:ext cx="10707624" cy="0"/>
          </a:xfrm>
          <a:prstGeom prst="line">
            <a:avLst/>
          </a:prstGeom>
          <a:ln w="12700">
            <a:solidFill>
              <a:srgbClr val="3651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13232" y="5532120"/>
            <a:ext cx="1058875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Real PostgreSQL concurrency checks confirm exactly one success and one rejection.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" y="457200"/>
            <a:ext cx="100584" cy="356616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7D6E9"/>
                </a:solidFill>
                <a:latin typeface="Courier New"/>
              </a:defRPr>
            </a:pPr>
            <a:r>
              <a:t>SYSTEM /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4183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Arial"/>
              </a:defRPr>
            </a:pPr>
            <a:r>
              <a:t>Five layers. One traceable request path.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6464808"/>
            <a:ext cx="10872216" cy="0"/>
          </a:xfrm>
          <a:prstGeom prst="line">
            <a:avLst/>
          </a:prstGeom>
          <a:ln w="10160">
            <a:solidFill>
              <a:srgbClr val="3147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54710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8CA4BA"/>
                </a:solidFill>
                <a:latin typeface="Courier New"/>
              </a:defRPr>
            </a:pPr>
            <a:r>
              <a:t>LABLEDGER  /  SESSION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54710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8CA4BA"/>
                </a:solidFill>
                <a:latin typeface="Arial"/>
              </a:defRPr>
            </a:pPr>
            <a:r>
              <a:t>README.md · Architecture and technologies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8208" y="6547104"/>
            <a:ext cx="704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8CA4BA"/>
                </a:solidFill>
                <a:latin typeface="Courier New"/>
              </a:defRPr>
            </a:pPr>
            <a:r>
              <a:t>05 / 16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1691640"/>
            <a:ext cx="0" cy="448056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920240" y="1691640"/>
            <a:ext cx="0" cy="448056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834640" y="1691640"/>
            <a:ext cx="0" cy="448056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749039" y="1691640"/>
            <a:ext cx="0" cy="448056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663440" y="1691640"/>
            <a:ext cx="0" cy="448056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577840" y="1691640"/>
            <a:ext cx="0" cy="448056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92240" y="1691640"/>
            <a:ext cx="0" cy="448056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406640" y="1691640"/>
            <a:ext cx="0" cy="448056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21040" y="1691640"/>
            <a:ext cx="0" cy="448056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40" y="1691640"/>
            <a:ext cx="0" cy="448056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149840" y="1691640"/>
            <a:ext cx="0" cy="448056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064240" y="1691640"/>
            <a:ext cx="0" cy="448056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85800" y="1828800"/>
            <a:ext cx="10799064" cy="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5800" y="2743200"/>
            <a:ext cx="10799064" cy="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85800" y="3657600"/>
            <a:ext cx="10799064" cy="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5800" y="4572000"/>
            <a:ext cx="10799064" cy="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85800" y="5486400"/>
            <a:ext cx="10799064" cy="0"/>
          </a:xfrm>
          <a:prstGeom prst="line">
            <a:avLst/>
          </a:prstGeom>
          <a:ln w="6350">
            <a:solidFill>
              <a:srgbClr val="182A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40664" y="2395728"/>
            <a:ext cx="1783080" cy="1188720"/>
          </a:xfrm>
          <a:prstGeom prst="roundRect">
            <a:avLst>
              <a:gd name="adj" fmla="val 8000"/>
            </a:avLst>
          </a:prstGeom>
          <a:solidFill>
            <a:srgbClr val="15253C"/>
          </a:solidFill>
          <a:ln w="17780">
            <a:solidFill>
              <a:srgbClr val="77D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4400" y="2560320"/>
            <a:ext cx="173736" cy="173736"/>
          </a:xfrm>
          <a:prstGeom prst="ellipse">
            <a:avLst/>
          </a:prstGeom>
          <a:solidFill>
            <a:srgbClr val="77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" y="2871216"/>
            <a:ext cx="15087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BROWSER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" y="3246120"/>
            <a:ext cx="15087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FC3D6"/>
                </a:solidFill>
                <a:latin typeface="Arial"/>
              </a:defRPr>
            </a:pPr>
            <a:r>
              <a:t>React dashboard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99232" y="2395728"/>
            <a:ext cx="1783080" cy="1188720"/>
          </a:xfrm>
          <a:prstGeom prst="roundRect">
            <a:avLst>
              <a:gd name="adj" fmla="val 8000"/>
            </a:avLst>
          </a:prstGeom>
          <a:solidFill>
            <a:srgbClr val="15253C"/>
          </a:solidFill>
          <a:ln w="17780">
            <a:solidFill>
              <a:srgbClr val="31C9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172968" y="2560320"/>
            <a:ext cx="173736" cy="173736"/>
          </a:xfrm>
          <a:prstGeom prst="ellipse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63824" y="2871216"/>
            <a:ext cx="15087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EDGE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63824" y="3246120"/>
            <a:ext cx="15087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FC3D6"/>
                </a:solidFill>
                <a:latin typeface="Arial"/>
              </a:defRPr>
            </a:pPr>
            <a:r>
              <a:t>Traefik Ingress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57800" y="2395728"/>
            <a:ext cx="1847088" cy="1188720"/>
          </a:xfrm>
          <a:prstGeom prst="roundRect">
            <a:avLst>
              <a:gd name="adj" fmla="val 8000"/>
            </a:avLst>
          </a:prstGeom>
          <a:solidFill>
            <a:srgbClr val="15253C"/>
          </a:solidFill>
          <a:ln w="17780">
            <a:solidFill>
              <a:srgbClr val="B8F2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431536" y="2560320"/>
            <a:ext cx="173736" cy="173736"/>
          </a:xfrm>
          <a:prstGeom prst="ellipse">
            <a:avLst/>
          </a:prstGeom>
          <a:solidFill>
            <a:srgbClr val="B8F2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22392" y="2871216"/>
            <a:ext cx="157276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22392" y="3246120"/>
            <a:ext cx="157276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FC3D6"/>
                </a:solidFill>
                <a:latin typeface="Arial"/>
              </a:defRPr>
            </a:pPr>
            <a:r>
              <a:t>FastAPI / 2–4 Pods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89520" y="2395728"/>
            <a:ext cx="1783080" cy="1188720"/>
          </a:xfrm>
          <a:prstGeom prst="roundRect">
            <a:avLst>
              <a:gd name="adj" fmla="val 8000"/>
            </a:avLst>
          </a:prstGeom>
          <a:solidFill>
            <a:srgbClr val="15253C"/>
          </a:solidFill>
          <a:ln w="17780">
            <a:solidFill>
              <a:srgbClr val="FF9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63256" y="2560320"/>
            <a:ext cx="173736" cy="173736"/>
          </a:xfrm>
          <a:prstGeom prst="ellipse">
            <a:avLst/>
          </a:prstGeom>
          <a:solidFill>
            <a:srgbClr val="F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54112" y="2871216"/>
            <a:ext cx="15087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54112" y="3246120"/>
            <a:ext cx="15087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FC3D6"/>
                </a:solidFill>
                <a:latin typeface="Arial"/>
              </a:defRPr>
            </a:pPr>
            <a:r>
              <a:t>PostgreSQL 17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57232" y="2395728"/>
            <a:ext cx="1572768" cy="1188720"/>
          </a:xfrm>
          <a:prstGeom prst="roundRect">
            <a:avLst>
              <a:gd name="adj" fmla="val 8000"/>
            </a:avLst>
          </a:prstGeom>
          <a:solidFill>
            <a:srgbClr val="15253C"/>
          </a:solidFill>
          <a:ln w="17780">
            <a:solidFill>
              <a:srgbClr val="77D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30967" y="2560320"/>
            <a:ext cx="173736" cy="173736"/>
          </a:xfrm>
          <a:prstGeom prst="ellipse">
            <a:avLst/>
          </a:prstGeom>
          <a:solidFill>
            <a:srgbClr val="77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21824" y="2871216"/>
            <a:ext cx="129844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STORE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21824" y="3246120"/>
            <a:ext cx="129844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FC3D6"/>
                </a:solidFill>
                <a:latin typeface="Arial"/>
              </a:defRPr>
            </a:pPr>
            <a:r>
              <a:t>2 GiB PVC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551176" y="2980944"/>
            <a:ext cx="320040" cy="0"/>
          </a:xfrm>
          <a:prstGeom prst="line">
            <a:avLst/>
          </a:prstGeom>
          <a:ln w="25400">
            <a:solidFill>
              <a:srgbClr val="31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/>
          <p:cNvSpPr/>
          <p:nvPr/>
        </p:nvSpPr>
        <p:spPr>
          <a:xfrm rot="5400000">
            <a:off x="2862072" y="2912363"/>
            <a:ext cx="146304" cy="137160"/>
          </a:xfrm>
          <a:prstGeom prst="triangle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809744" y="2980944"/>
            <a:ext cx="320040" cy="0"/>
          </a:xfrm>
          <a:prstGeom prst="line">
            <a:avLst/>
          </a:prstGeom>
          <a:ln w="25400">
            <a:solidFill>
              <a:srgbClr val="31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 rot="5400000">
            <a:off x="5120640" y="2912363"/>
            <a:ext cx="146304" cy="137160"/>
          </a:xfrm>
          <a:prstGeom prst="triangle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7132320" y="2980944"/>
            <a:ext cx="320040" cy="0"/>
          </a:xfrm>
          <a:prstGeom prst="line">
            <a:avLst/>
          </a:prstGeom>
          <a:ln w="25400">
            <a:solidFill>
              <a:srgbClr val="31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 rot="5400000">
            <a:off x="7443216" y="2912363"/>
            <a:ext cx="146304" cy="137160"/>
          </a:xfrm>
          <a:prstGeom prst="triangle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9400032" y="2980944"/>
            <a:ext cx="320040" cy="0"/>
          </a:xfrm>
          <a:prstGeom prst="line">
            <a:avLst/>
          </a:prstGeom>
          <a:ln w="25400">
            <a:solidFill>
              <a:srgbClr val="31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/>
          <p:cNvSpPr/>
          <p:nvPr/>
        </p:nvSpPr>
        <p:spPr>
          <a:xfrm rot="5400000">
            <a:off x="9710928" y="2912363"/>
            <a:ext cx="146304" cy="137160"/>
          </a:xfrm>
          <a:prstGeom prst="triangle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6172200" y="3602736"/>
            <a:ext cx="0" cy="713232"/>
          </a:xfrm>
          <a:prstGeom prst="line">
            <a:avLst/>
          </a:prstGeom>
          <a:ln w="22860">
            <a:solidFill>
              <a:srgbClr val="77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777240" y="4572000"/>
            <a:ext cx="3246120" cy="1033271"/>
          </a:xfrm>
          <a:prstGeom prst="roundRect">
            <a:avLst>
              <a:gd name="adj" fmla="val 8000"/>
            </a:avLst>
          </a:prstGeom>
          <a:solidFill>
            <a:srgbClr val="193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6696" y="47914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B8F26A"/>
                </a:solidFill>
                <a:latin typeface="Courier New"/>
              </a:defRPr>
            </a:pPr>
            <a:r>
              <a:t>DELIVER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6" y="5138928"/>
            <a:ext cx="286207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Actions → GHCR → Argo CD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480560" y="4572000"/>
            <a:ext cx="3246120" cy="1033271"/>
          </a:xfrm>
          <a:prstGeom prst="roundRect">
            <a:avLst>
              <a:gd name="adj" fmla="val 8000"/>
            </a:avLst>
          </a:prstGeom>
          <a:solidFill>
            <a:srgbClr val="193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00016" y="47914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B8F26A"/>
                </a:solidFill>
                <a:latin typeface="Courier New"/>
              </a:defRPr>
            </a:pPr>
            <a:r>
              <a:t>CONTROL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00016" y="5138928"/>
            <a:ext cx="288950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Helm · probes · HPA · migration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183879" y="4572000"/>
            <a:ext cx="3246120" cy="1033271"/>
          </a:xfrm>
          <a:prstGeom prst="roundRect">
            <a:avLst>
              <a:gd name="adj" fmla="val 8000"/>
            </a:avLst>
          </a:prstGeom>
          <a:solidFill>
            <a:srgbClr val="1936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03336" y="4791456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B8F26A"/>
                </a:solidFill>
                <a:latin typeface="Courier New"/>
              </a:defRPr>
            </a:pPr>
            <a:r>
              <a:t>OBSERVE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03336" y="5138928"/>
            <a:ext cx="288950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Prometheus → Grafana + logs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" y="457200"/>
            <a:ext cx="100584" cy="356616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7D6E9"/>
                </a:solidFill>
                <a:latin typeface="Courier New"/>
              </a:defRPr>
            </a:pPr>
            <a:r>
              <a:t>DELIVERY /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4183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Arial"/>
              </a:defRPr>
            </a:pPr>
            <a:r>
              <a:t>A release earns its way into GitOps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6464808"/>
            <a:ext cx="10872216" cy="0"/>
          </a:xfrm>
          <a:prstGeom prst="line">
            <a:avLst/>
          </a:prstGeom>
          <a:ln w="10160">
            <a:solidFill>
              <a:srgbClr val="3147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54710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8CA4BA"/>
                </a:solidFill>
                <a:latin typeface="Courier New"/>
              </a:defRPr>
            </a:pPr>
            <a:r>
              <a:t>LABLEDGER  /  SESSION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54710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8CA4BA"/>
                </a:solidFill>
                <a:latin typeface="Arial"/>
              </a:defRPr>
            </a:pPr>
            <a:r>
              <a:t>README.md · CI/CD and DevSecOps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8208" y="6547104"/>
            <a:ext cx="704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8CA4BA"/>
                </a:solidFill>
                <a:latin typeface="Courier New"/>
              </a:defRPr>
            </a:pPr>
            <a:r>
              <a:t>06 / 16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2743200"/>
            <a:ext cx="10149840" cy="0"/>
          </a:xfrm>
          <a:prstGeom prst="line">
            <a:avLst/>
          </a:prstGeom>
          <a:ln w="25400">
            <a:solidFill>
              <a:srgbClr val="4662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060704" y="2569464"/>
            <a:ext cx="347472" cy="347472"/>
          </a:xfrm>
          <a:prstGeom prst="ellipse">
            <a:avLst/>
          </a:prstGeom>
          <a:solidFill>
            <a:srgbClr val="B8F2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2651760"/>
            <a:ext cx="2011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B1425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39" y="3172968"/>
            <a:ext cx="146304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COMMIT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5" y="3547872"/>
            <a:ext cx="1581912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8CCDC"/>
                </a:solidFill>
                <a:latin typeface="Arial"/>
              </a:defRPr>
            </a:pPr>
            <a:r>
              <a:t>Source SHA</a:t>
            </a:r>
          </a:p>
        </p:txBody>
      </p:sp>
      <p:sp>
        <p:nvSpPr>
          <p:cNvPr id="15" name="Oval 14"/>
          <p:cNvSpPr/>
          <p:nvPr/>
        </p:nvSpPr>
        <p:spPr>
          <a:xfrm>
            <a:off x="2980944" y="2569464"/>
            <a:ext cx="347472" cy="347472"/>
          </a:xfrm>
          <a:prstGeom prst="ellipse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54096" y="2651760"/>
            <a:ext cx="2011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B1425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79" y="3172968"/>
            <a:ext cx="146304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5" y="3547872"/>
            <a:ext cx="1581912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8CCDC"/>
                </a:solidFill>
                <a:latin typeface="Arial"/>
              </a:defRPr>
            </a:pPr>
            <a:r>
              <a:t>Tests + scans</a:t>
            </a:r>
          </a:p>
        </p:txBody>
      </p:sp>
      <p:sp>
        <p:nvSpPr>
          <p:cNvPr id="19" name="Oval 18"/>
          <p:cNvSpPr/>
          <p:nvPr/>
        </p:nvSpPr>
        <p:spPr>
          <a:xfrm>
            <a:off x="4901184" y="2569464"/>
            <a:ext cx="347472" cy="347472"/>
          </a:xfrm>
          <a:prstGeom prst="ellipse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2651760"/>
            <a:ext cx="2011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B1425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172968"/>
            <a:ext cx="146304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3547872"/>
            <a:ext cx="1581912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8CCDC"/>
                </a:solidFill>
                <a:latin typeface="Arial"/>
              </a:defRPr>
            </a:pPr>
            <a:r>
              <a:t>Two CPUs</a:t>
            </a:r>
          </a:p>
        </p:txBody>
      </p:sp>
      <p:sp>
        <p:nvSpPr>
          <p:cNvPr id="23" name="Oval 22"/>
          <p:cNvSpPr/>
          <p:nvPr/>
        </p:nvSpPr>
        <p:spPr>
          <a:xfrm>
            <a:off x="6821424" y="2569464"/>
            <a:ext cx="347472" cy="347472"/>
          </a:xfrm>
          <a:prstGeom prst="ellipse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4576" y="2651760"/>
            <a:ext cx="2011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B1425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172968"/>
            <a:ext cx="146304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3547872"/>
            <a:ext cx="1581912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8CCDC"/>
                </a:solidFill>
                <a:latin typeface="Arial"/>
              </a:defRPr>
            </a:pPr>
            <a:r>
              <a:t>Two Kind clusters</a:t>
            </a:r>
          </a:p>
        </p:txBody>
      </p:sp>
      <p:sp>
        <p:nvSpPr>
          <p:cNvPr id="27" name="Oval 26"/>
          <p:cNvSpPr/>
          <p:nvPr/>
        </p:nvSpPr>
        <p:spPr>
          <a:xfrm>
            <a:off x="8741664" y="2569464"/>
            <a:ext cx="347472" cy="347472"/>
          </a:xfrm>
          <a:prstGeom prst="ellipse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14816" y="2651760"/>
            <a:ext cx="2011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B1425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3172968"/>
            <a:ext cx="146304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PROMOTE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03336" y="3547872"/>
            <a:ext cx="1581912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8CCDC"/>
                </a:solidFill>
                <a:latin typeface="Arial"/>
              </a:defRPr>
            </a:pPr>
            <a:r>
              <a:t>SHA manifests</a:t>
            </a:r>
          </a:p>
        </p:txBody>
      </p:sp>
      <p:sp>
        <p:nvSpPr>
          <p:cNvPr id="31" name="Oval 30"/>
          <p:cNvSpPr/>
          <p:nvPr/>
        </p:nvSpPr>
        <p:spPr>
          <a:xfrm>
            <a:off x="10661904" y="2569464"/>
            <a:ext cx="347472" cy="347472"/>
          </a:xfrm>
          <a:prstGeom prst="ellipse">
            <a:avLst/>
          </a:prstGeom>
          <a:solidFill>
            <a:srgbClr val="B8F2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35056" y="2651760"/>
            <a:ext cx="2011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B1425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78440" y="3172968"/>
            <a:ext cx="146304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SYNC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23576" y="3547872"/>
            <a:ext cx="1581912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B8CCDC"/>
                </a:solidFill>
                <a:latin typeface="Arial"/>
              </a:defRPr>
            </a:pPr>
            <a:r>
              <a:t>Argo CD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90872" y="4187952"/>
            <a:ext cx="2788920" cy="630936"/>
          </a:xfrm>
          <a:prstGeom prst="roundRect">
            <a:avLst>
              <a:gd name="adj" fmla="val 8000"/>
            </a:avLst>
          </a:prstGeom>
          <a:solidFill>
            <a:srgbClr val="254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4389120"/>
            <a:ext cx="23225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F26A"/>
                </a:solidFill>
                <a:latin typeface="Courier New"/>
              </a:defRPr>
            </a:pPr>
            <a:r>
              <a:t>AMD64  ✓       ARM64  ✓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89904" y="3950208"/>
            <a:ext cx="0" cy="237744"/>
          </a:xfrm>
          <a:prstGeom prst="line">
            <a:avLst/>
          </a:prstGeom>
          <a:ln w="17780">
            <a:solidFill>
              <a:srgbClr val="77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13232" y="5266944"/>
            <a:ext cx="10716768" cy="566928"/>
          </a:xfrm>
          <a:prstGeom prst="roundRect">
            <a:avLst>
              <a:gd name="adj" fmla="val 8000"/>
            </a:avLst>
          </a:prstGeom>
          <a:solidFill>
            <a:srgbClr val="15253C"/>
          </a:solidFill>
          <a:ln w="12700">
            <a:solidFill>
              <a:srgbClr val="3652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" y="5422392"/>
            <a:ext cx="101772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Promotion waits for both native images to pass deployment and business-rule checks.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" y="6062472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EC2D3"/>
                </a:solidFill>
                <a:latin typeface="Arial"/>
              </a:defRPr>
            </a:pPr>
            <a:r>
              <a:t>The release tag carries the application commit SHA from registry to cluster.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" y="457200"/>
            <a:ext cx="100584" cy="356616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F927B"/>
                </a:solidFill>
                <a:latin typeface="Courier New"/>
              </a:defRPr>
            </a:pPr>
            <a:r>
              <a:t>QUALITY /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4183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43A"/>
                </a:solidFill>
                <a:latin typeface="Arial"/>
              </a:defRPr>
            </a:pPr>
            <a:r>
              <a:t>The score is backed by runnable checks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6464808"/>
            <a:ext cx="10872216" cy="0"/>
          </a:xfrm>
          <a:prstGeom prst="line">
            <a:avLst/>
          </a:prstGeom>
          <a:ln w="1016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54710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738397"/>
                </a:solidFill>
                <a:latin typeface="Courier New"/>
              </a:defRPr>
            </a:pPr>
            <a:r>
              <a:t>LABLEDGER  /  SESSION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54710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738397"/>
                </a:solidFill>
                <a:latin typeface="Arial"/>
              </a:defRPr>
            </a:pPr>
            <a:r>
              <a:t>Output/reports/tests.xml · README.md · security-summary.json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8208" y="6547104"/>
            <a:ext cx="704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738397"/>
                </a:solidFill>
                <a:latin typeface="Courier New"/>
              </a:defRPr>
            </a:pPr>
            <a:r>
              <a:t>07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837943"/>
            <a:ext cx="2121408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700" b="1">
                <a:solidFill>
                  <a:srgbClr val="13243A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88036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C9279"/>
                </a:solidFill>
                <a:latin typeface="Arial"/>
              </a:defRPr>
            </a:pPr>
            <a:r>
              <a:t>API tests passed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739896" y="1801368"/>
            <a:ext cx="0" cy="3502152"/>
          </a:xfrm>
          <a:prstGeom prst="line">
            <a:avLst/>
          </a:prstGeom>
          <a:ln w="1524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41648" y="1892807"/>
            <a:ext cx="5577840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6700" b="1">
                <a:solidFill>
                  <a:srgbClr val="13243A"/>
                </a:solidFill>
                <a:latin typeface="Arial"/>
              </a:defRPr>
            </a:pPr>
            <a:r>
              <a:t>91.71%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289864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C9279"/>
                </a:solidFill>
                <a:latin typeface="Arial"/>
              </a:defRPr>
            </a:pPr>
            <a:r>
              <a:t>coverage  /  85% required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3410712"/>
            <a:ext cx="6720840" cy="237744"/>
          </a:xfrm>
          <a:prstGeom prst="roundRect">
            <a:avLst>
              <a:gd name="adj" fmla="val 8000"/>
            </a:avLst>
          </a:prstGeom>
          <a:solidFill>
            <a:srgbClr val="DCE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69080" y="3410712"/>
            <a:ext cx="6163056" cy="237744"/>
          </a:xfrm>
          <a:prstGeom prst="roundRect">
            <a:avLst>
              <a:gd name="adj" fmla="val 8000"/>
            </a:avLst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74936" y="3300984"/>
            <a:ext cx="0" cy="475488"/>
          </a:xfrm>
          <a:prstGeom prst="line">
            <a:avLst/>
          </a:prstGeom>
          <a:ln w="30480">
            <a:solidFill>
              <a:srgbClr val="FF9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573768" y="3858768"/>
            <a:ext cx="126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D6C7C"/>
                </a:solidFill>
                <a:latin typeface="Arial"/>
              </a:defRPr>
            </a:pPr>
            <a:r>
              <a:t>85% gate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4727448"/>
            <a:ext cx="10744200" cy="0"/>
          </a:xfrm>
          <a:prstGeom prst="line">
            <a:avLst/>
          </a:prstGeom>
          <a:ln w="19050">
            <a:solidFill>
              <a:srgbClr val="1324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010912"/>
            <a:ext cx="960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31C9A6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138928"/>
            <a:ext cx="2459736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3243A"/>
                </a:solidFill>
                <a:latin typeface="Arial"/>
              </a:defRPr>
            </a:pPr>
            <a:r>
              <a:t>frontend regressions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14800" y="4937760"/>
            <a:ext cx="0" cy="914400"/>
          </a:xfrm>
          <a:prstGeom prst="line">
            <a:avLst/>
          </a:prstGeom>
          <a:ln w="1270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370832" y="5010912"/>
            <a:ext cx="960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31C9A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138928"/>
            <a:ext cx="2459736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3243A"/>
                </a:solidFill>
                <a:latin typeface="Arial"/>
              </a:defRPr>
            </a:pPr>
            <a:r>
              <a:t>HIGH / CRITICAL image findings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772400" y="4937760"/>
            <a:ext cx="0" cy="914400"/>
          </a:xfrm>
          <a:prstGeom prst="line">
            <a:avLst/>
          </a:prstGeom>
          <a:ln w="1270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28431" y="5010912"/>
            <a:ext cx="960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31C9A6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19" y="5138928"/>
            <a:ext cx="2459736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3243A"/>
                </a:solidFill>
                <a:latin typeface="Arial"/>
              </a:defRPr>
            </a:pPr>
            <a:r>
              <a:t>architectures verified in Kind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" y="457200"/>
            <a:ext cx="100584" cy="356616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7D6E9"/>
                </a:solidFill>
                <a:latin typeface="Courier New"/>
              </a:defRPr>
            </a:pPr>
            <a:r>
              <a:t>SECURITY /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4183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Arial"/>
              </a:defRPr>
            </a:pPr>
            <a:r>
              <a:t>Safety checks happen before promotion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6464808"/>
            <a:ext cx="10872216" cy="0"/>
          </a:xfrm>
          <a:prstGeom prst="line">
            <a:avLst/>
          </a:prstGeom>
          <a:ln w="10160">
            <a:solidFill>
              <a:srgbClr val="3147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54710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8CA4BA"/>
                </a:solidFill>
                <a:latin typeface="Courier New"/>
              </a:defRPr>
            </a:pPr>
            <a:r>
              <a:t>LABLEDGER  /  SESSION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54710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8CA4BA"/>
                </a:solidFill>
                <a:latin typeface="Arial"/>
              </a:defRPr>
            </a:pPr>
            <a:r>
              <a:t>README.md · DevSecOps; Output/reports/security-summary.json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8208" y="6547104"/>
            <a:ext cx="704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8CA4BA"/>
                </a:solidFill>
                <a:latin typeface="Courier New"/>
              </a:defRPr>
            </a:pPr>
            <a:r>
              <a:t>08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7315200" cy="740664"/>
          </a:xfrm>
          <a:prstGeom prst="roundRect">
            <a:avLst>
              <a:gd name="adj" fmla="val 8000"/>
            </a:avLst>
          </a:prstGeom>
          <a:solidFill>
            <a:srgbClr val="15253C"/>
          </a:solidFill>
          <a:ln w="12700">
            <a:solidFill>
              <a:srgbClr val="3652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109728" cy="740664"/>
          </a:xfrm>
          <a:prstGeom prst="rect">
            <a:avLst/>
          </a:prstGeom>
          <a:solidFill>
            <a:srgbClr val="77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93391"/>
            <a:ext cx="3931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77D6E9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1993391"/>
            <a:ext cx="204825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2002536"/>
            <a:ext cx="383133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1D1E0"/>
                </a:solidFill>
                <a:latin typeface="Arial"/>
              </a:defRPr>
            </a:pPr>
            <a:r>
              <a:t>Bandit SAST + Gitleaks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71016" y="2523744"/>
            <a:ext cx="0" cy="256032"/>
          </a:xfrm>
          <a:prstGeom prst="line">
            <a:avLst/>
          </a:prstGeom>
          <a:ln w="19050">
            <a:solidFill>
              <a:srgbClr val="77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3232" y="2779776"/>
            <a:ext cx="7315200" cy="740664"/>
          </a:xfrm>
          <a:prstGeom prst="roundRect">
            <a:avLst>
              <a:gd name="adj" fmla="val 8000"/>
            </a:avLst>
          </a:prstGeom>
          <a:solidFill>
            <a:srgbClr val="15253C"/>
          </a:solidFill>
          <a:ln w="12700">
            <a:solidFill>
              <a:srgbClr val="3652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2779776"/>
            <a:ext cx="109728" cy="740664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2999232"/>
            <a:ext cx="3931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31C9A6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9344" y="2999232"/>
            <a:ext cx="204825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DEPENDENCIES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5344" y="3008376"/>
            <a:ext cx="383133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1D1E0"/>
                </a:solidFill>
                <a:latin typeface="Arial"/>
              </a:defRPr>
            </a:pPr>
            <a:r>
              <a:t>pip-audit + npm audit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71016" y="3529584"/>
            <a:ext cx="0" cy="256032"/>
          </a:xfrm>
          <a:prstGeom prst="line">
            <a:avLst/>
          </a:prstGeom>
          <a:ln w="19050">
            <a:solidFill>
              <a:srgbClr val="31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13232" y="3785616"/>
            <a:ext cx="7315200" cy="740664"/>
          </a:xfrm>
          <a:prstGeom prst="roundRect">
            <a:avLst>
              <a:gd name="adj" fmla="val 8000"/>
            </a:avLst>
          </a:prstGeom>
          <a:solidFill>
            <a:srgbClr val="15253C"/>
          </a:solidFill>
          <a:ln w="12700">
            <a:solidFill>
              <a:srgbClr val="3652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3785616"/>
            <a:ext cx="109728" cy="740664"/>
          </a:xfrm>
          <a:prstGeom prst="rect">
            <a:avLst/>
          </a:prstGeom>
          <a:solidFill>
            <a:srgbClr val="F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4005072"/>
            <a:ext cx="3931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9E79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9344" y="4005072"/>
            <a:ext cx="204825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IMAGES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95344" y="4014216"/>
            <a:ext cx="383133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1D1E0"/>
                </a:solidFill>
                <a:latin typeface="Arial"/>
              </a:defRPr>
            </a:pPr>
            <a:r>
              <a:t>Trivy on backend + frontend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271016" y="4535424"/>
            <a:ext cx="0" cy="256032"/>
          </a:xfrm>
          <a:prstGeom prst="line">
            <a:avLst/>
          </a:prstGeom>
          <a:ln w="19050">
            <a:solidFill>
              <a:srgbClr val="FF9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13232" y="4791456"/>
            <a:ext cx="7315200" cy="740664"/>
          </a:xfrm>
          <a:prstGeom prst="roundRect">
            <a:avLst>
              <a:gd name="adj" fmla="val 8000"/>
            </a:avLst>
          </a:prstGeom>
          <a:solidFill>
            <a:srgbClr val="15253C"/>
          </a:solidFill>
          <a:ln w="12700">
            <a:solidFill>
              <a:srgbClr val="3652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4791456"/>
            <a:ext cx="109728" cy="740664"/>
          </a:xfrm>
          <a:prstGeom prst="rect">
            <a:avLst/>
          </a:prstGeom>
          <a:solidFill>
            <a:srgbClr val="B8F2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5010912"/>
            <a:ext cx="3931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F26A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9344" y="5010912"/>
            <a:ext cx="204825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RUNTIME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95344" y="5020056"/>
            <a:ext cx="383133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1D1E0"/>
                </a:solidFill>
                <a:latin typeface="Arial"/>
              </a:defRPr>
            </a:pPr>
            <a:r>
              <a:t>Real Kind deployment verification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57616" y="1783080"/>
            <a:ext cx="3081528" cy="3767328"/>
          </a:xfrm>
          <a:prstGeom prst="roundRect">
            <a:avLst>
              <a:gd name="adj" fmla="val 8000"/>
            </a:avLst>
          </a:prstGeom>
          <a:solidFill>
            <a:srgbClr val="17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23376" y="2084831"/>
            <a:ext cx="232257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300" b="1">
                <a:solidFill>
                  <a:srgbClr val="B8F26A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3376" y="3438144"/>
            <a:ext cx="238658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HIGH / CRITICAL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23376" y="3867912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9CDDC"/>
                </a:solidFill>
                <a:latin typeface="Arial"/>
              </a:defRPr>
            </a:pPr>
            <a:r>
              <a:t>in four CI image reports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23376" y="4892040"/>
            <a:ext cx="21396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7D6E9"/>
                </a:solidFill>
                <a:latin typeface="Arial"/>
              </a:defRPr>
            </a:pPr>
            <a:r>
              <a:t>Recorded scan result; future databases can change.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" y="457200"/>
            <a:ext cx="100584" cy="356616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F927B"/>
                </a:solidFill>
                <a:latin typeface="Courier New"/>
              </a:defRPr>
            </a:pPr>
            <a:r>
              <a:t>RUNTIME / KUBERNETES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4183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43A"/>
                </a:solidFill>
                <a:latin typeface="Arial"/>
              </a:defRPr>
            </a:pPr>
            <a:r>
              <a:t>A chart turns images into a service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6464808"/>
            <a:ext cx="10872216" cy="0"/>
          </a:xfrm>
          <a:prstGeom prst="line">
            <a:avLst/>
          </a:prstGeom>
          <a:ln w="1016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54710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738397"/>
                </a:solidFill>
                <a:latin typeface="Courier New"/>
              </a:defRPr>
            </a:pPr>
            <a:r>
              <a:t>LABLEDGER  /  SESSION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54710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738397"/>
                </a:solidFill>
                <a:latin typeface="Arial"/>
              </a:defRPr>
            </a:pPr>
            <a:r>
              <a:t>README.md · Kubernetes and Helm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8208" y="6547104"/>
            <a:ext cx="704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738397"/>
                </a:solidFill>
                <a:latin typeface="Courier New"/>
              </a:defRPr>
            </a:pPr>
            <a:r>
              <a:t>09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7315200" cy="4306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4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020824"/>
            <a:ext cx="32918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D907A"/>
                </a:solidFill>
                <a:latin typeface="Courier New"/>
              </a:defRPr>
            </a:pPr>
            <a:r>
              <a:t>namespace: session21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" y="2514600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E4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97864" y="274320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3243A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7864" y="31363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D6C7C"/>
                </a:solidFill>
                <a:latin typeface="Arial"/>
              </a:defRPr>
            </a:pPr>
            <a:r>
              <a:t>2 replicas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2514600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E1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74320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3243A"/>
                </a:solidFill>
                <a:latin typeface="Arial"/>
              </a:defRPr>
            </a:pPr>
            <a:r>
              <a:t>BACKEND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1363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D6C7C"/>
                </a:solidFill>
                <a:latin typeface="Arial"/>
              </a:defRPr>
            </a:pPr>
            <a:r>
              <a:t>2 → 4 HPA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51576" y="2514600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34456" y="27432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3243A"/>
                </a:solidFill>
                <a:latin typeface="Arial"/>
              </a:defRPr>
            </a:pPr>
            <a:r>
              <a:t>POSTGRES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4456" y="3136392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D6C7C"/>
                </a:solidFill>
                <a:latin typeface="Arial"/>
              </a:defRPr>
            </a:pPr>
            <a:r>
              <a:t>StatefulSet + PVC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80944" y="3017520"/>
            <a:ext cx="265176" cy="0"/>
          </a:xfrm>
          <a:prstGeom prst="line">
            <a:avLst/>
          </a:prstGeom>
          <a:ln w="25400">
            <a:solidFill>
              <a:srgbClr val="31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3236976" y="2948939"/>
            <a:ext cx="146304" cy="137160"/>
          </a:xfrm>
          <a:prstGeom prst="triangle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349240" y="3017520"/>
            <a:ext cx="265176" cy="0"/>
          </a:xfrm>
          <a:prstGeom prst="line">
            <a:avLst/>
          </a:prstGeom>
          <a:ln w="25400">
            <a:solidFill>
              <a:srgbClr val="31C9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5605272" y="2948939"/>
            <a:ext cx="146304" cy="137160"/>
          </a:xfrm>
          <a:prstGeom prst="triangle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343400" y="3566160"/>
            <a:ext cx="0" cy="493776"/>
          </a:xfrm>
          <a:prstGeom prst="line">
            <a:avLst/>
          </a:prstGeom>
          <a:ln w="22860">
            <a:solidFill>
              <a:srgbClr val="3BA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874519" y="4105656"/>
            <a:ext cx="5120640" cy="685800"/>
          </a:xfrm>
          <a:prstGeom prst="roundRect">
            <a:avLst>
              <a:gd name="adj" fmla="val 8000"/>
            </a:avLst>
          </a:prstGeom>
          <a:solidFill>
            <a:srgbClr val="0B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48840" y="4325112"/>
            <a:ext cx="4617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ourier New"/>
              </a:defRPr>
            </a:pPr>
            <a:r>
              <a:t>MIGRATION JOB   →   readiness probes   →   rolling update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138928"/>
            <a:ext cx="6446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5D6C7C"/>
                </a:solidFill>
                <a:latin typeface="Arial"/>
              </a:defRPr>
            </a:pPr>
            <a:r>
              <a:t>ConfigMap + external Secret keep configuration and credentials separate.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39327" y="1783080"/>
            <a:ext cx="3099816" cy="4306824"/>
          </a:xfrm>
          <a:prstGeom prst="roundRect">
            <a:avLst>
              <a:gd name="adj" fmla="val 8000"/>
            </a:avLst>
          </a:prstGeom>
          <a:solidFill>
            <a:srgbClr val="0B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41080" y="2084831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7D6E9"/>
                </a:solidFill>
                <a:latin typeface="Courier New"/>
              </a:defRPr>
            </a:pPr>
            <a:r>
              <a:t>OPERATIONAL 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31936" y="2514600"/>
            <a:ext cx="2459736" cy="1719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FFFFFF"/>
                </a:solidFill>
                <a:latin typeface="Arial"/>
              </a:defRPr>
            </a:pPr>
            <a:r>
              <a:t>Healthy</a:t>
            </a:r>
            <a:br/>
            <a:r>
              <a:t>pods.</a:t>
            </a:r>
            <a:br/>
            <a:r>
              <a:t>Stable data.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41080" y="4599432"/>
            <a:ext cx="2505456" cy="0"/>
          </a:xfrm>
          <a:prstGeom prst="line">
            <a:avLst/>
          </a:prstGeom>
          <a:ln w="12700">
            <a:solidFill>
              <a:srgbClr val="3A54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641080" y="4873752"/>
            <a:ext cx="2404872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0D2E1"/>
                </a:solidFill>
                <a:latin typeface="Arial"/>
              </a:defRPr>
            </a:pPr>
            <a:r>
              <a:t>The 2 GiB database volume stayed bound during recovery drills.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" y="457200"/>
            <a:ext cx="100584" cy="356616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7D6E9"/>
                </a:solidFill>
                <a:latin typeface="Courier New"/>
              </a:defRPr>
            </a:pPr>
            <a:r>
              <a:t>CLOUD / 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4183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Arial"/>
              </a:defRPr>
            </a:pPr>
            <a:r>
              <a:t>Provision → serve → remove. All three were proved.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6464808"/>
            <a:ext cx="10872216" cy="0"/>
          </a:xfrm>
          <a:prstGeom prst="line">
            <a:avLst/>
          </a:prstGeom>
          <a:ln w="10160">
            <a:solidFill>
              <a:srgbClr val="3147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54710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8CA4BA"/>
                </a:solidFill>
                <a:latin typeface="Courier New"/>
              </a:defRPr>
            </a:pPr>
            <a:r>
              <a:t>LABLEDGER  /  SESSION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54710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8CA4BA"/>
                </a:solidFill>
                <a:latin typeface="Arial"/>
              </a:defRPr>
            </a:pPr>
            <a:r>
              <a:t>Output/43, 49, 56 · 15 Oct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8208" y="6547104"/>
            <a:ext cx="704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8CA4BA"/>
                </a:solidFill>
                <a:latin typeface="Courier New"/>
              </a:defRPr>
            </a:pPr>
            <a:r>
              <a:t>10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700784"/>
            <a:ext cx="70408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77D6E9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PROVISION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4944" y="2240280"/>
            <a:ext cx="3264408" cy="0"/>
          </a:xfrm>
          <a:prstGeom prst="line">
            <a:avLst/>
          </a:prstGeom>
          <a:ln w="25400">
            <a:solidFill>
              <a:srgbClr val="77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" y="2496312"/>
            <a:ext cx="3273552" cy="2103120"/>
          </a:xfrm>
          <a:prstGeom prst="roundRect">
            <a:avLst>
              <a:gd name="adj" fmla="val 8000"/>
            </a:avLst>
          </a:prstGeom>
          <a:solidFill>
            <a:srgbClr val="203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45-aws-vpc-console.png"/>
          <p:cNvPicPr>
            <a:picLocks noChangeAspect="1"/>
          </p:cNvPicPr>
          <p:nvPr/>
        </p:nvPicPr>
        <p:blipFill>
          <a:blip r:embed="rId2"/>
          <a:srcRect l="3947" r="3947"/>
          <a:stretch>
            <a:fillRect/>
          </a:stretch>
        </p:blipFill>
        <p:spPr>
          <a:xfrm>
            <a:off x="777240" y="2578608"/>
            <a:ext cx="3108960" cy="19385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4944" y="48737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21 Terraform additions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41648" y="3547872"/>
            <a:ext cx="173736" cy="0"/>
          </a:xfrm>
          <a:prstGeom prst="line">
            <a:avLst/>
          </a:prstGeom>
          <a:ln w="22860">
            <a:solidFill>
              <a:srgbClr val="77D6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4206240" y="3479291"/>
            <a:ext cx="146304" cy="137160"/>
          </a:xfrm>
          <a:prstGeom prst="triangle">
            <a:avLst/>
          </a:prstGeom>
          <a:solidFill>
            <a:srgbClr val="77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9976" y="1700784"/>
            <a:ext cx="70408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B8F26A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1755648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SERVE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79976" y="2240280"/>
            <a:ext cx="3264407" cy="0"/>
          </a:xfrm>
          <a:prstGeom prst="line">
            <a:avLst/>
          </a:prstGeom>
          <a:ln w="25400">
            <a:solidFill>
              <a:srgbClr val="B8F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79976" y="2496312"/>
            <a:ext cx="3273552" cy="2103120"/>
          </a:xfrm>
          <a:prstGeom prst="roundRect">
            <a:avLst>
              <a:gd name="adj" fmla="val 8000"/>
            </a:avLst>
          </a:prstGeom>
          <a:solidFill>
            <a:srgbClr val="203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49-aws-application-browser.png"/>
          <p:cNvPicPr>
            <a:picLocks noChangeAspect="1"/>
          </p:cNvPicPr>
          <p:nvPr/>
        </p:nvPicPr>
        <p:blipFill>
          <a:blip r:embed="rId3"/>
          <a:srcRect l="3947" r="3947"/>
          <a:stretch>
            <a:fillRect/>
          </a:stretch>
        </p:blipFill>
        <p:spPr>
          <a:xfrm>
            <a:off x="4462272" y="2578608"/>
            <a:ext cx="3108960" cy="19385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379976" y="48737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LabLedger through EKS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26679" y="3547872"/>
            <a:ext cx="173737" cy="0"/>
          </a:xfrm>
          <a:prstGeom prst="line">
            <a:avLst/>
          </a:prstGeom>
          <a:ln w="22860">
            <a:solidFill>
              <a:srgbClr val="B8F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7891272" y="3479291"/>
            <a:ext cx="146304" cy="137160"/>
          </a:xfrm>
          <a:prstGeom prst="triangle">
            <a:avLst/>
          </a:prstGeom>
          <a:solidFill>
            <a:srgbClr val="B8F2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5008" y="1700784"/>
            <a:ext cx="70408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9E79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51392" y="1755648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REMOVE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065008" y="2240280"/>
            <a:ext cx="3264408" cy="0"/>
          </a:xfrm>
          <a:prstGeom prst="line">
            <a:avLst/>
          </a:prstGeom>
          <a:ln w="25400">
            <a:solidFill>
              <a:srgbClr val="FF9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065008" y="2496312"/>
            <a:ext cx="3273552" cy="2103120"/>
          </a:xfrm>
          <a:prstGeom prst="roundRect">
            <a:avLst>
              <a:gd name="adj" fmla="val 8000"/>
            </a:avLst>
          </a:prstGeom>
          <a:solidFill>
            <a:srgbClr val="203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56-aws-cleanup-verified.png"/>
          <p:cNvPicPr>
            <a:picLocks noChangeAspect="1"/>
          </p:cNvPicPr>
          <p:nvPr/>
        </p:nvPicPr>
        <p:blipFill>
          <a:blip r:embed="rId4"/>
          <a:srcRect t="3275" b="3275"/>
          <a:stretch>
            <a:fillRect/>
          </a:stretch>
        </p:blipFill>
        <p:spPr>
          <a:xfrm>
            <a:off x="8147304" y="2578608"/>
            <a:ext cx="3108960" cy="19385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065008" y="48737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AWS absence checks pass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" y="5623560"/>
            <a:ext cx="10826496" cy="429768"/>
          </a:xfrm>
          <a:prstGeom prst="roundRect">
            <a:avLst>
              <a:gd name="adj" fmla="val 8000"/>
            </a:avLst>
          </a:prstGeom>
          <a:solidFill>
            <a:srgbClr val="1B3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5751576"/>
            <a:ext cx="10332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77D6E9"/>
                </a:solidFill>
                <a:latin typeface="Arial"/>
              </a:defRPr>
            </a:pPr>
            <a:r>
              <a:t>Sydney / ap-southeast-2    •    temporary EKS cluster    •    cleanup verified after the demo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" y="457200"/>
            <a:ext cx="100584" cy="356616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F927B"/>
                </a:solidFill>
                <a:latin typeface="Courier New"/>
              </a:defRPr>
            </a:pPr>
            <a:r>
              <a:t>CLOUD /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4183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43A"/>
                </a:solidFill>
                <a:latin typeface="Arial"/>
              </a:defRPr>
            </a:pPr>
            <a:r>
              <a:t>A dedicated EKS cluster hosted the live run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6464808"/>
            <a:ext cx="10872216" cy="0"/>
          </a:xfrm>
          <a:prstGeom prst="line">
            <a:avLst/>
          </a:prstGeom>
          <a:ln w="1016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54710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738397"/>
                </a:solidFill>
                <a:latin typeface="Courier New"/>
              </a:defRPr>
            </a:pPr>
            <a:r>
              <a:t>LABLEDGER  /  SESSION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54710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738397"/>
                </a:solidFill>
                <a:latin typeface="Arial"/>
              </a:defRPr>
            </a:pPr>
            <a:r>
              <a:t>Output/46-aws-eks-console.png · README.md · AWS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8208" y="6547104"/>
            <a:ext cx="704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738397"/>
                </a:solidFill>
                <a:latin typeface="Courier New"/>
              </a:defRPr>
            </a:pPr>
            <a:r>
              <a:t>11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" y="1883664"/>
            <a:ext cx="7525512" cy="4288536"/>
          </a:xfrm>
          <a:prstGeom prst="roundRect">
            <a:avLst>
              <a:gd name="adj" fmla="val 8000"/>
            </a:avLst>
          </a:prstGeom>
          <a:solidFill>
            <a:srgbClr val="203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737360"/>
            <a:ext cx="7525512" cy="4288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46-aws-eks-console.png"/>
          <p:cNvPicPr>
            <a:picLocks noChangeAspect="1"/>
          </p:cNvPicPr>
          <p:nvPr/>
        </p:nvPicPr>
        <p:blipFill>
          <a:blip r:embed="rId2"/>
          <a:srcRect t="5770" b="5770"/>
          <a:stretch>
            <a:fillRect/>
          </a:stretch>
        </p:blipFill>
        <p:spPr>
          <a:xfrm>
            <a:off x="758952" y="1810512"/>
            <a:ext cx="7379208" cy="414223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5800" y="1737360"/>
            <a:ext cx="7525512" cy="4288536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C9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1936" y="1847088"/>
            <a:ext cx="987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500" b="1">
                <a:solidFill>
                  <a:srgbClr val="31C9A6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121408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3243A"/>
                </a:solidFill>
                <a:latin typeface="Arial"/>
              </a:defRPr>
            </a:pPr>
            <a:r>
              <a:t>resources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9368" y="2871216"/>
            <a:ext cx="2706624" cy="0"/>
          </a:xfrm>
          <a:prstGeom prst="line">
            <a:avLst/>
          </a:prstGeom>
          <a:ln w="1270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631936" y="3127248"/>
            <a:ext cx="987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500" b="1">
                <a:solidFill>
                  <a:srgbClr val="77D6E9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19488" y="3401568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3243A"/>
                </a:solidFill>
                <a:latin typeface="Arial"/>
              </a:defRPr>
            </a:pPr>
            <a:r>
              <a:t>public subnets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9368" y="4151376"/>
            <a:ext cx="2706624" cy="0"/>
          </a:xfrm>
          <a:prstGeom prst="line">
            <a:avLst/>
          </a:prstGeom>
          <a:ln w="1270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631936" y="4407408"/>
            <a:ext cx="987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500" b="1">
                <a:solidFill>
                  <a:srgbClr val="FF9E79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4681728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3243A"/>
                </a:solidFill>
                <a:latin typeface="Arial"/>
              </a:defRPr>
            </a:pPr>
            <a:r>
              <a:t>managed worker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6153912"/>
            <a:ext cx="10698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D6C7C"/>
                </a:solidFill>
                <a:latin typeface="Arial"/>
              </a:defRPr>
            </a:pPr>
            <a:r>
              <a:t>Actual AWS Console capture from the temporary Sydney cluster before teardown.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" y="457200"/>
            <a:ext cx="100584" cy="356616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F927B"/>
                </a:solidFill>
                <a:latin typeface="Courier New"/>
              </a:defRPr>
            </a:pPr>
            <a:r>
              <a:t>OPERATE /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4183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43A"/>
                </a:solidFill>
                <a:latin typeface="Arial"/>
              </a:defRPr>
            </a:pPr>
            <a:r>
              <a:t>When something changes, there is a signal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6464808"/>
            <a:ext cx="10872216" cy="0"/>
          </a:xfrm>
          <a:prstGeom prst="line">
            <a:avLst/>
          </a:prstGeom>
          <a:ln w="1016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54710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738397"/>
                </a:solidFill>
                <a:latin typeface="Courier New"/>
              </a:defRPr>
            </a:pPr>
            <a:r>
              <a:t>LABLEDGER  /  SESSION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54710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738397"/>
                </a:solidFill>
                <a:latin typeface="Arial"/>
              </a:defRPr>
            </a:pPr>
            <a:r>
              <a:t>Output/53-aws-grafana-dashboard.png · monitoring/README.md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8208" y="6547104"/>
            <a:ext cx="704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738397"/>
                </a:solidFill>
                <a:latin typeface="Courier New"/>
              </a:defRPr>
            </a:pPr>
            <a:r>
              <a:t>12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" y="1892807"/>
            <a:ext cx="6739128" cy="4288536"/>
          </a:xfrm>
          <a:prstGeom prst="roundRect">
            <a:avLst>
              <a:gd name="adj" fmla="val 8000"/>
            </a:avLst>
          </a:prstGeom>
          <a:solidFill>
            <a:srgbClr val="203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746504"/>
            <a:ext cx="6739128" cy="4288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3-aws-grafana-dashboard.png"/>
          <p:cNvPicPr>
            <a:picLocks noChangeAspect="1"/>
          </p:cNvPicPr>
          <p:nvPr/>
        </p:nvPicPr>
        <p:blipFill>
          <a:blip r:embed="rId2"/>
          <a:srcRect t="1000" b="494"/>
          <a:stretch>
            <a:fillRect/>
          </a:stretch>
        </p:blipFill>
        <p:spPr>
          <a:xfrm>
            <a:off x="758952" y="1819656"/>
            <a:ext cx="6592824" cy="414223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5800" y="1746504"/>
            <a:ext cx="6739128" cy="4288536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C9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99831" y="1773936"/>
            <a:ext cx="3666744" cy="4215384"/>
          </a:xfrm>
          <a:prstGeom prst="roundRect">
            <a:avLst>
              <a:gd name="adj" fmla="val 8000"/>
            </a:avLst>
          </a:prstGeom>
          <a:solidFill>
            <a:srgbClr val="0B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01583" y="2048256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7D6E9"/>
                </a:solidFill>
                <a:latin typeface="Courier New"/>
              </a:defRPr>
            </a:pPr>
            <a:r>
              <a:t>REAL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0727" y="2450592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B8F26A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752344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backend targets UP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19872" y="3364992"/>
            <a:ext cx="3017520" cy="0"/>
          </a:xfrm>
          <a:prstGeom prst="line">
            <a:avLst/>
          </a:prstGeom>
          <a:ln w="12700">
            <a:solidFill>
              <a:srgbClr val="3552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19872" y="3675887"/>
            <a:ext cx="3383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77D6E9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3675887"/>
            <a:ext cx="2560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CAD9E6"/>
                </a:solidFill>
                <a:latin typeface="Arial"/>
              </a:defRPr>
            </a:pPr>
            <a:r>
              <a:t>Request rate + p95 latency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2" y="4261103"/>
            <a:ext cx="3383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77D6E9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261103"/>
            <a:ext cx="2560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CAD9E6"/>
                </a:solidFill>
                <a:latin typeface="Arial"/>
              </a:defRPr>
            </a:pPr>
            <a:r>
              <a:t>CPU + memory by process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9872" y="4846320"/>
            <a:ext cx="3383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77D6E9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846320"/>
            <a:ext cx="2560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CAD9E6"/>
                </a:solidFill>
                <a:latin typeface="Arial"/>
              </a:defRPr>
            </a:pPr>
            <a:r>
              <a:t>JSON logs carry ID + release SHA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" y="6153912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D6C7C"/>
                </a:solidFill>
                <a:latin typeface="Arial"/>
              </a:defRPr>
            </a:pPr>
            <a:r>
              <a:t>The dashboard was live during the AWS run; monitoring history was not retained after teardown.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" y="457200"/>
            <a:ext cx="100584" cy="356616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7D6E9"/>
                </a:solidFill>
                <a:latin typeface="Courier New"/>
              </a:defRPr>
            </a:pPr>
            <a:r>
              <a:t>RELEASE / GITOPS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4183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Arial"/>
              </a:defRPr>
            </a:pPr>
            <a:r>
              <a:t>The commit becomes the desired state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6464808"/>
            <a:ext cx="10872216" cy="0"/>
          </a:xfrm>
          <a:prstGeom prst="line">
            <a:avLst/>
          </a:prstGeom>
          <a:ln w="10160">
            <a:solidFill>
              <a:srgbClr val="3147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54710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8CA4BA"/>
                </a:solidFill>
                <a:latin typeface="Courier New"/>
              </a:defRPr>
            </a:pPr>
            <a:r>
              <a:t>LABLEDGER  /  SESSION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54710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8CA4BA"/>
                </a:solidFill>
                <a:latin typeface="Arial"/>
              </a:defRPr>
            </a:pPr>
            <a:r>
              <a:t>Output/36-gitops-final-browser.png · gitops/application.yaml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8208" y="6547104"/>
            <a:ext cx="704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8CA4BA"/>
                </a:solidFill>
                <a:latin typeface="Courier New"/>
              </a:defRPr>
            </a:pPr>
            <a:r>
              <a:t>13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79007" y="1911095"/>
            <a:ext cx="5760720" cy="4169663"/>
          </a:xfrm>
          <a:prstGeom prst="roundRect">
            <a:avLst>
              <a:gd name="adj" fmla="val 8000"/>
            </a:avLst>
          </a:prstGeom>
          <a:solidFill>
            <a:srgbClr val="203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50992" y="1764792"/>
            <a:ext cx="5760720" cy="416966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36-gitops-final-browser.png"/>
          <p:cNvPicPr>
            <a:picLocks noChangeAspect="1"/>
          </p:cNvPicPr>
          <p:nvPr/>
        </p:nvPicPr>
        <p:blipFill>
          <a:blip r:embed="rId2"/>
          <a:srcRect t="1000" l="7996" r="7996"/>
          <a:stretch>
            <a:fillRect/>
          </a:stretch>
        </p:blipFill>
        <p:spPr>
          <a:xfrm>
            <a:off x="5724144" y="1837943"/>
            <a:ext cx="5614416" cy="402335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50992" y="1764792"/>
            <a:ext cx="5760720" cy="4169663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C9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76479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7D6E9"/>
                </a:solidFill>
                <a:latin typeface="Courier New"/>
              </a:defRPr>
            </a:pPr>
            <a:r>
              <a:t>VERIFIED FEATURE RELEASE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249424"/>
            <a:ext cx="4553712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700" b="1">
                <a:solidFill>
                  <a:srgbClr val="B8F26A"/>
                </a:solidFill>
                <a:latin typeface="Courier New"/>
              </a:defRPr>
            </a:pPr>
            <a:r>
              <a:t>9faeab4…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072384"/>
            <a:ext cx="4361688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Available-only inventory filter + searchable lending history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4416552"/>
            <a:ext cx="4352544" cy="0"/>
          </a:xfrm>
          <a:prstGeom prst="line">
            <a:avLst/>
          </a:prstGeom>
          <a:ln w="12700">
            <a:solidFill>
              <a:srgbClr val="3854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4681728"/>
            <a:ext cx="44165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C7D8E5"/>
                </a:solidFill>
                <a:latin typeface="Arial"/>
              </a:defRPr>
            </a:pPr>
            <a:r>
              <a:t>CI promotes both SHA-tagged images after the checks pass. Argo CD reconciles the chart and reports Synced / Healthy.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9864" y="6108192"/>
            <a:ext cx="5577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AFC3D6"/>
                </a:solidFill>
                <a:latin typeface="Arial"/>
              </a:defRPr>
            </a:pPr>
            <a:r>
              <a:t>Real Argo CD screenshot after verified rollout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" y="457200"/>
            <a:ext cx="100584" cy="356616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F927B"/>
                </a:solidFill>
                <a:latin typeface="Courier New"/>
              </a:defRPr>
            </a:pPr>
            <a:r>
              <a:t>OPERATE /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4183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3243A"/>
                </a:solidFill>
                <a:latin typeface="Arial"/>
              </a:defRPr>
            </a:pPr>
            <a:r>
              <a:t>Four faults became four repeatable playbooks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6464808"/>
            <a:ext cx="10872216" cy="0"/>
          </a:xfrm>
          <a:prstGeom prst="line">
            <a:avLst/>
          </a:prstGeom>
          <a:ln w="10160">
            <a:solidFill>
              <a:srgbClr val="DCE4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54710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738397"/>
                </a:solidFill>
                <a:latin typeface="Courier New"/>
              </a:defRPr>
            </a:pPr>
            <a:r>
              <a:t>LABLEDGER  /  SESSION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54710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738397"/>
                </a:solidFill>
                <a:latin typeface="Arial"/>
              </a:defRPr>
            </a:pPr>
            <a:r>
              <a:t>troubleshooting/README.md · Output/19–26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8208" y="6547104"/>
            <a:ext cx="704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738397"/>
                </a:solidFill>
                <a:latin typeface="Courier New"/>
              </a:defRPr>
            </a:pPr>
            <a:r>
              <a:t>14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C907A"/>
                </a:solidFill>
                <a:latin typeface="Courier New"/>
              </a:defRPr>
            </a:pPr>
            <a:r>
              <a:t>FAULT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737360"/>
            <a:ext cx="27432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C907A"/>
                </a:solidFill>
                <a:latin typeface="Courier New"/>
              </a:defRPr>
            </a:pPr>
            <a: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4112" y="1737360"/>
            <a:ext cx="27432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C907A"/>
                </a:solidFill>
                <a:latin typeface="Courier New"/>
              </a:defRPr>
            </a:pPr>
            <a:r>
              <a:t>RECOVERY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148840"/>
            <a:ext cx="10771632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2148840"/>
            <a:ext cx="91440" cy="768096"/>
          </a:xfrm>
          <a:prstGeom prst="rect">
            <a:avLst/>
          </a:prstGeom>
          <a:solidFill>
            <a:srgbClr val="F26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2368296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3243A"/>
                </a:solidFill>
                <a:latin typeface="Arial"/>
              </a:defRPr>
            </a:pPr>
            <a:r>
              <a:t>Bad image tag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13048" y="2368296"/>
            <a:ext cx="32186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D6C7C"/>
                </a:solidFill>
                <a:latin typeface="Arial"/>
              </a:defRPr>
            </a:pPr>
            <a:r>
              <a:t>ImagePullBackOff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63256" y="2368296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C907A"/>
                </a:solidFill>
                <a:latin typeface="Arial"/>
              </a:defRPr>
            </a:pPr>
            <a:r>
              <a:t>Restore verified SHA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090672"/>
            <a:ext cx="10771632" cy="768096"/>
          </a:xfrm>
          <a:prstGeom prst="roundRect">
            <a:avLst>
              <a:gd name="adj" fmla="val 8000"/>
            </a:avLst>
          </a:prstGeom>
          <a:solidFill>
            <a:srgbClr val="ED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3090672"/>
            <a:ext cx="91440" cy="768096"/>
          </a:xfrm>
          <a:prstGeom prst="rect">
            <a:avLst/>
          </a:prstGeom>
          <a:solidFill>
            <a:srgbClr val="F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331012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3243A"/>
                </a:solidFill>
                <a:latin typeface="Arial"/>
              </a:defRPr>
            </a:pPr>
            <a:r>
              <a:t>Wrong selector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3048" y="3310128"/>
            <a:ext cx="32186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D6C7C"/>
                </a:solidFill>
                <a:latin typeface="Arial"/>
              </a:defRPr>
            </a:pPr>
            <a:r>
              <a:t>Empty endpoints / 503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63256" y="3310128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C907A"/>
                </a:solidFill>
                <a:latin typeface="Arial"/>
              </a:defRPr>
            </a:pPr>
            <a:r>
              <a:t>Restore matching labels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032504"/>
            <a:ext cx="10771632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4032504"/>
            <a:ext cx="91440" cy="768096"/>
          </a:xfrm>
          <a:prstGeom prst="rect">
            <a:avLst/>
          </a:prstGeom>
          <a:solidFill>
            <a:srgbClr val="F26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4251960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3243A"/>
                </a:solidFill>
                <a:latin typeface="Arial"/>
              </a:defRPr>
            </a:pPr>
            <a:r>
              <a:t>Closed ingress 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3048" y="4251960"/>
            <a:ext cx="32186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D6C7C"/>
                </a:solidFill>
                <a:latin typeface="Arial"/>
              </a:defRPr>
            </a:pPr>
            <a:r>
              <a:t>HTTP 502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63256" y="4251960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C907A"/>
                </a:solidFill>
                <a:latin typeface="Arial"/>
              </a:defRPr>
            </a:pPr>
            <a:r>
              <a:t>Route to backend:8000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974336"/>
            <a:ext cx="10771632" cy="768096"/>
          </a:xfrm>
          <a:prstGeom prst="roundRect">
            <a:avLst>
              <a:gd name="adj" fmla="val 8000"/>
            </a:avLst>
          </a:prstGeom>
          <a:solidFill>
            <a:srgbClr val="ED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4974336"/>
            <a:ext cx="91440" cy="768096"/>
          </a:xfrm>
          <a:prstGeom prst="rect">
            <a:avLst/>
          </a:prstGeom>
          <a:solidFill>
            <a:srgbClr val="F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5193792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3243A"/>
                </a:solidFill>
                <a:latin typeface="Arial"/>
              </a:defRPr>
            </a:pPr>
            <a:r>
              <a:t>Database stopped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3048" y="5193792"/>
            <a:ext cx="32186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D6C7C"/>
                </a:solidFill>
                <a:latin typeface="Arial"/>
              </a:defRPr>
            </a:pPr>
            <a:r>
              <a:t>Readiness 503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5193792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C907A"/>
                </a:solidFill>
                <a:latin typeface="Arial"/>
              </a:defRPr>
            </a:pPr>
            <a:r>
              <a:t>Restore StatefulSet; PVC intact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108192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D6C7C"/>
                </a:solidFill>
                <a:latin typeface="Arial"/>
              </a:defRPr>
            </a:pPr>
            <a:r>
              <a:t>Each playbook documents symptom, command, root cause, fix and verification.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" y="457200"/>
            <a:ext cx="100584" cy="356616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75488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7D6E9"/>
                </a:solidFill>
                <a:latin typeface="Courier New"/>
              </a:defRPr>
            </a:pPr>
            <a:r>
              <a:t>EVIDENCE /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4183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Arial"/>
              </a:defRPr>
            </a:pPr>
            <a:r>
              <a:t>The proof is broad. The boundary is explicit.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6464808"/>
            <a:ext cx="10872216" cy="0"/>
          </a:xfrm>
          <a:prstGeom prst="line">
            <a:avLst/>
          </a:prstGeom>
          <a:ln w="10160">
            <a:solidFill>
              <a:srgbClr val="3147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654710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8CA4BA"/>
                </a:solidFill>
                <a:latin typeface="Courier New"/>
              </a:defRPr>
            </a:pPr>
            <a:r>
              <a:t>LABLEDGER  /  SESSION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54710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8CA4BA"/>
                </a:solidFill>
                <a:latin typeface="Arial"/>
              </a:defRPr>
            </a:pPr>
            <a:r>
              <a:t>Output/README.md · aws-cleanup-verification.json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8208" y="6547104"/>
            <a:ext cx="704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8CA4BA"/>
                </a:solidFill>
                <a:latin typeface="Courier New"/>
              </a:defRPr>
            </a:pPr>
            <a:r>
              <a:t>15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865376"/>
            <a:ext cx="1143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5300" b="1">
                <a:solidFill>
                  <a:srgbClr val="B8F26A"/>
                </a:solidFill>
                <a:latin typeface="Arial"/>
              </a:defRPr>
            </a:pPr>
            <a:r>
              <a:t>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057400"/>
            <a:ext cx="23500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ourier New"/>
              </a:defRPr>
            </a:pPr>
            <a:r>
              <a:t>SCREENSHOTS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779776"/>
            <a:ext cx="317296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ECFDE"/>
                </a:solidFill>
                <a:latin typeface="Arial"/>
              </a:defRPr>
            </a:pPr>
            <a:r>
              <a:t>App, tests, CI, Kubernetes and AWS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42232" y="1837943"/>
            <a:ext cx="0" cy="1728217"/>
          </a:xfrm>
          <a:prstGeom prst="line">
            <a:avLst/>
          </a:prstGeom>
          <a:ln w="12700">
            <a:solidFill>
              <a:srgbClr val="35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370831" y="1865376"/>
            <a:ext cx="1143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5300" b="1">
                <a:solidFill>
                  <a:srgbClr val="77D6E9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41264" y="2057400"/>
            <a:ext cx="23500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ourier New"/>
              </a:defRPr>
            </a:pPr>
            <a:r>
              <a:t>RECOVERY DRILLS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0831" y="2779776"/>
            <a:ext cx="317296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ECFDE"/>
                </a:solidFill>
                <a:latin typeface="Arial"/>
              </a:defRPr>
            </a:pPr>
            <a:r>
              <a:t>Fault → diagnosis → fix → proof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8119" y="1837943"/>
            <a:ext cx="0" cy="1728217"/>
          </a:xfrm>
          <a:prstGeom prst="line">
            <a:avLst/>
          </a:prstGeom>
          <a:ln w="12700">
            <a:solidFill>
              <a:srgbClr val="35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46719" y="1865376"/>
            <a:ext cx="1143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5300" b="1">
                <a:solidFill>
                  <a:srgbClr val="FF9E79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1" y="2057400"/>
            <a:ext cx="23500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ourier New"/>
              </a:defRPr>
            </a:pPr>
            <a:r>
              <a:t>RELEASES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2779776"/>
            <a:ext cx="317296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ECFDE"/>
                </a:solidFill>
                <a:latin typeface="Arial"/>
              </a:defRPr>
            </a:pPr>
            <a:r>
              <a:t>Verified through two CPU paths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3232" y="3913632"/>
            <a:ext cx="10735056" cy="0"/>
          </a:xfrm>
          <a:prstGeom prst="line">
            <a:avLst/>
          </a:prstGeom>
          <a:ln w="12700">
            <a:solidFill>
              <a:srgbClr val="3C5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13232" y="4334256"/>
            <a:ext cx="375818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B8F26A"/>
                </a:solidFill>
                <a:latin typeface="Arial"/>
              </a:defRPr>
            </a:pPr>
            <a:r>
              <a:t>Historical AWS endpoint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791456"/>
            <a:ext cx="10442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The temporary cluster, VPC, worker storage and load balancer were removed after the demonstration. The report records their absence.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916168"/>
            <a:ext cx="1061618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AFC2D3"/>
                </a:solidFill>
                <a:latin typeface="Arial"/>
              </a:defRPr>
            </a:pPr>
            <a:r>
              <a:t>Production additions: auth, TLS, managed backups, image signing, durable metrics and alert delivery.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6350">
            <a:solidFill>
              <a:srgbClr val="172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6350">
            <a:solidFill>
              <a:srgbClr val="172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6350">
            <a:solidFill>
              <a:srgbClr val="172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72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6350">
            <a:solidFill>
              <a:srgbClr val="172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0" y="914400"/>
            <a:ext cx="5239512" cy="0"/>
          </a:xfrm>
          <a:prstGeom prst="line">
            <a:avLst/>
          </a:prstGeom>
          <a:ln w="6350">
            <a:solidFill>
              <a:srgbClr val="172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49440" y="1828800"/>
            <a:ext cx="5239512" cy="0"/>
          </a:xfrm>
          <a:prstGeom prst="line">
            <a:avLst/>
          </a:prstGeom>
          <a:ln w="6350">
            <a:solidFill>
              <a:srgbClr val="172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49440" y="2743200"/>
            <a:ext cx="5239512" cy="0"/>
          </a:xfrm>
          <a:prstGeom prst="line">
            <a:avLst/>
          </a:prstGeom>
          <a:ln w="6350">
            <a:solidFill>
              <a:srgbClr val="172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949440" y="3657600"/>
            <a:ext cx="5239512" cy="0"/>
          </a:xfrm>
          <a:prstGeom prst="line">
            <a:avLst/>
          </a:prstGeom>
          <a:ln w="6350">
            <a:solidFill>
              <a:srgbClr val="172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949440" y="4572000"/>
            <a:ext cx="5239512" cy="0"/>
          </a:xfrm>
          <a:prstGeom prst="line">
            <a:avLst/>
          </a:prstGeom>
          <a:ln w="6350">
            <a:solidFill>
              <a:srgbClr val="172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949440" y="5486400"/>
            <a:ext cx="5239512" cy="0"/>
          </a:xfrm>
          <a:prstGeom prst="line">
            <a:avLst/>
          </a:prstGeom>
          <a:ln w="6350">
            <a:solidFill>
              <a:srgbClr val="172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6400800"/>
            <a:ext cx="5239512" cy="0"/>
          </a:xfrm>
          <a:prstGeom prst="line">
            <a:avLst/>
          </a:prstGeom>
          <a:ln w="6350">
            <a:solidFill>
              <a:srgbClr val="172B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13232" y="667512"/>
            <a:ext cx="100584" cy="448056"/>
          </a:xfrm>
          <a:prstGeom prst="rect">
            <a:avLst/>
          </a:prstGeom>
          <a:solidFill>
            <a:srgbClr val="31C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768096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77D6E9"/>
                </a:solidFill>
                <a:latin typeface="Courier New"/>
              </a:defRPr>
            </a:pPr>
            <a:r>
              <a:t>LABLEDGER / FINAL DEVOPS CAPSTONE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1307592"/>
            <a:ext cx="6858000" cy="3995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defRPr sz="4300" b="1">
                <a:solidFill>
                  <a:srgbClr val="FFFFFF"/>
                </a:solidFill>
                <a:latin typeface="Arial"/>
              </a:defRPr>
            </a:pPr>
            <a:r>
              <a:t>Build it.</a:t>
            </a:r>
            <a:br/>
            <a:r>
              <a:t>Prove it.</a:t>
            </a:r>
            <a:br/>
            <a:r>
              <a:t>Run it.</a:t>
            </a:r>
            <a:br/>
            <a:r>
              <a:t>Recover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1709928"/>
            <a:ext cx="4059936" cy="3236976"/>
          </a:xfrm>
          <a:prstGeom prst="roundRect">
            <a:avLst>
              <a:gd name="adj" fmla="val 8000"/>
            </a:avLst>
          </a:prstGeom>
          <a:solidFill>
            <a:srgbClr val="15253C"/>
          </a:solidFill>
          <a:ln w="12700">
            <a:solidFill>
              <a:srgbClr val="3D6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2029968"/>
            <a:ext cx="117043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900" b="1">
                <a:solidFill>
                  <a:srgbClr val="B8F26A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2267712"/>
            <a:ext cx="21396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API tests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90688" y="2843784"/>
            <a:ext cx="3392424" cy="0"/>
          </a:xfrm>
          <a:prstGeom prst="line">
            <a:avLst/>
          </a:prstGeom>
          <a:ln w="12700">
            <a:solidFill>
              <a:srgbClr val="3B59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0" y="3026664"/>
            <a:ext cx="117043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900" b="1">
                <a:solidFill>
                  <a:srgbClr val="77D6E9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3264408"/>
            <a:ext cx="22677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AWS resources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90688" y="3840480"/>
            <a:ext cx="3392424" cy="0"/>
          </a:xfrm>
          <a:prstGeom prst="line">
            <a:avLst/>
          </a:prstGeom>
          <a:ln w="12700">
            <a:solidFill>
              <a:srgbClr val="3B59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772400" y="4014215"/>
            <a:ext cx="117043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900" b="1">
                <a:solidFill>
                  <a:srgbClr val="FF9E79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4251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left after cleanup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971032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B5C9D9"/>
                </a:solidFill>
                <a:latin typeface="Arial"/>
              </a:defRPr>
            </a:pPr>
            <a:r>
              <a:t>Full source, screenshots and reports: final-devops-project/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55664"/>
            <a:ext cx="64008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49DB4"/>
                </a:solidFill>
                <a:latin typeface="Arial"/>
              </a:defRPr>
            </a:pPr>
            <a:r>
              <a:t>Shivam Jaiswal  •  Session 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62488" y="6455664"/>
            <a:ext cx="75895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849DB4"/>
                </a:solidFill>
                <a:latin typeface="Courier New"/>
              </a:defRPr>
            </a:pPr>
            <a: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LabLedger — One app. An entire delivery system.</dc:title>
  <dc:subject>Final DevOps Capstone: evidence-backed presentation</dc:subject>
  <dc:creator>Shivam Jaiswal</dc:creator>
  <cp:keywords>LabLedger, DevOps, FastAPI, Kubernetes, AWS EKS, GitOps, Terraform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