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658368"/>
            <a:ext cx="91440" cy="42976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SESSION 21  /  FINAL DEVOPS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60350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Arial"/>
              </a:defRPr>
            </a:pPr>
            <a:r>
              <a:t>LabLedger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B9F36D"/>
                </a:solidFill>
                <a:latin typeface="Arial"/>
              </a:defRPr>
            </a:pPr>
            <a:r>
              <a:t>From commit to cloud.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889504"/>
            <a:ext cx="539496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D1DCEC"/>
                </a:solidFill>
                <a:latin typeface="Arial"/>
              </a:defRPr>
            </a:pPr>
            <a:r>
              <a:t>A real campus equipment lending app, delivered with tested automation, Kubernetes, GitOps, observability and an AWS EKS deployment.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983480"/>
            <a:ext cx="5413248" cy="704088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52029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Arial"/>
              </a:defRPr>
            </a:pPr>
            <a:r>
              <a:t>20 API tests   •   2 CPU architectures   •   21 AWS resources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5080" y="566928"/>
            <a:ext cx="5212080" cy="5468112"/>
          </a:xfrm>
          <a:prstGeom prst="roundRect">
            <a:avLst>
              <a:gd name="adj" fmla="val 10000"/>
            </a:avLst>
          </a:prstGeom>
          <a:solidFill>
            <a:srgbClr val="1B2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49-aws-application-browser.png"/>
          <p:cNvPicPr>
            <a:picLocks noChangeAspect="1"/>
          </p:cNvPicPr>
          <p:nvPr/>
        </p:nvPicPr>
        <p:blipFill>
          <a:blip r:embed="rId2"/>
          <a:srcRect l="22705" r="22705"/>
          <a:stretch>
            <a:fillRect/>
          </a:stretch>
        </p:blipFill>
        <p:spPr>
          <a:xfrm>
            <a:off x="6501384" y="722376"/>
            <a:ext cx="4919472" cy="517550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73952" y="6236208"/>
            <a:ext cx="5029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9BAD0"/>
                </a:solidFill>
                <a:latin typeface="Arial"/>
              </a:defRPr>
            </a:pPr>
            <a:r>
              <a:t>Recorded AWS deployment · 15 Oct 2026 · later torn down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54496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AD0"/>
                </a:solidFill>
                <a:latin typeface="Arial"/>
              </a:defRPr>
            </a:pPr>
            <a:r>
              <a:t>Shivam Jaiswal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A lending desk that needs trustworthy stock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472184"/>
            <a:ext cx="1828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THE PRODUCT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792224"/>
            <a:ext cx="676656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82437"/>
                </a:solidFill>
                <a:latin typeface="Arial"/>
              </a:defRPr>
            </a:pPr>
            <a:r>
              <a:t>Know what exists. Know what is available. Record every handoff.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" y="2770632"/>
            <a:ext cx="3493008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50392" y="2971800"/>
            <a:ext cx="73152" cy="310896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971800"/>
            <a:ext cx="2898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Inventory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29000"/>
            <a:ext cx="3090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Asset tags, categories, quantities and searchable availability.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770632"/>
            <a:ext cx="3493008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35424" y="2971800"/>
            <a:ext cx="73152" cy="310896"/>
          </a:xfrm>
          <a:prstGeom prst="rect">
            <a:avLst/>
          </a:prstGeom>
          <a:solidFill>
            <a:srgbClr val="69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36592" y="2971800"/>
            <a:ext cx="2898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Checkout &amp; return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53712" y="3429000"/>
            <a:ext cx="3090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Borrowing changes stock; returns restore it once while history stays intact.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770632"/>
            <a:ext cx="3493008" cy="184708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5" y="2971800"/>
            <a:ext cx="73152" cy="310896"/>
          </a:xfrm>
          <a:prstGeom prst="rect">
            <a:avLst/>
          </a:prstGeom>
          <a:solidFill>
            <a:srgbClr val="F7C6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21624" y="2971800"/>
            <a:ext cx="289864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Operational proof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3429000"/>
            <a:ext cx="3090672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Health, readiness, metrics and release SHA connect behavior to deployment.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" y="5010912"/>
            <a:ext cx="10863072" cy="832104"/>
          </a:xfrm>
          <a:prstGeom prst="roundRect">
            <a:avLst>
              <a:gd name="adj" fmla="val 10000"/>
            </a:avLst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239512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B9F36D"/>
                </a:solidFill>
                <a:latin typeface="Arial"/>
              </a:defRPr>
            </a:pPr>
            <a: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89504" y="5212080"/>
            <a:ext cx="7863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A live demo exercises business rules, not only a landing page.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" y="614476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Source: final-devops-project/README.md · Application and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The running application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03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Output/49-aws-application-browser.png</a:t>
            </a:r>
          </a:p>
        </p:txBody>
      </p:sp>
      <p:pic>
        <p:nvPicPr>
          <p:cNvPr id="10" name="Picture 9" descr="49-aws-application-browser.png"/>
          <p:cNvPicPr>
            <a:picLocks noChangeAspect="1"/>
          </p:cNvPicPr>
          <p:nvPr/>
        </p:nvPicPr>
        <p:blipFill>
          <a:blip r:embed="rId2"/>
          <a:srcRect l="2567" r="2567"/>
          <a:stretch>
            <a:fillRect/>
          </a:stretch>
        </p:blipFill>
        <p:spPr>
          <a:xfrm>
            <a:off x="658368" y="1444752"/>
            <a:ext cx="7461504" cy="45171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8368" y="1444752"/>
            <a:ext cx="7461504" cy="4517136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339327" y="1444752"/>
            <a:ext cx="3191256" cy="45171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95360" y="1691640"/>
            <a:ext cx="2231136" cy="310896"/>
          </a:xfrm>
          <a:prstGeom prst="roundRect">
            <a:avLst>
              <a:gd name="adj" fmla="val 10000"/>
            </a:avLst>
          </a:prstGeom>
          <a:solidFill>
            <a:srgbClr val="DD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05088" y="1755648"/>
            <a:ext cx="201168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45C"/>
                </a:solidFill>
                <a:latin typeface="Arial"/>
              </a:defRPr>
            </a:pPr>
            <a:r>
              <a:t>AWS EKS · REAL BROWSER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267712"/>
            <a:ext cx="26517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182437"/>
                </a:solidFill>
                <a:latin typeface="Arial"/>
              </a:defRPr>
            </a:pPr>
            <a:r>
              <a:t>One screen, four jobs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3026664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A79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89136" y="3026664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7"/>
                </a:solidFill>
                <a:latin typeface="Arial"/>
              </a:defRPr>
            </a:pPr>
            <a:r>
              <a:t>See available equipment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95360" y="3648456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A79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3648456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7"/>
                </a:solidFill>
                <a:latin typeface="Arial"/>
              </a:defRPr>
            </a:pPr>
            <a:r>
              <a:t>Search and filter inventory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4270248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A79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9136" y="4270248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7"/>
                </a:solidFill>
                <a:latin typeface="Arial"/>
              </a:defRPr>
            </a:pPr>
            <a:r>
              <a:t>Borrow and return units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95360" y="4892040"/>
            <a:ext cx="384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D9A79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89136" y="4892040"/>
            <a:ext cx="21945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182437"/>
                </a:solidFill>
                <a:latin typeface="Arial"/>
              </a:defRPr>
            </a:pPr>
            <a:r>
              <a:t>Review lending history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" y="61264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Screenshot captured before the temporary AWS deployment was removed.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Architecture: clear paths, clear ownership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3A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04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9D5E8"/>
                </a:solidFill>
                <a:latin typeface="Arial"/>
              </a:defRPr>
            </a:pPr>
            <a:r>
              <a:t>README.md · Architecture and technologies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481328"/>
            <a:ext cx="1234440" cy="31089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545336"/>
            <a:ext cx="101498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USER REQUEST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72384" y="1481328"/>
            <a:ext cx="694944" cy="31089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82112" y="1545336"/>
            <a:ext cx="47548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EDGE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77840" y="1481328"/>
            <a:ext cx="658368" cy="31089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87568" y="1545336"/>
            <a:ext cx="438912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APP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81328"/>
            <a:ext cx="758952" cy="31089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9327" y="1545336"/>
            <a:ext cx="539496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1929384"/>
            <a:ext cx="1956816" cy="1298448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213055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Equipment desk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270662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DD2"/>
                </a:solidFill>
                <a:latin typeface="Arial"/>
              </a:defRPr>
            </a:pPr>
            <a:r>
              <a:t>Browser / React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62656" y="1929384"/>
            <a:ext cx="1956816" cy="1298448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8104" y="2130552"/>
            <a:ext cx="1645920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Traefik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18104" y="270662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DD2"/>
                </a:solidFill>
                <a:latin typeface="Arial"/>
              </a:defRPr>
            </a:pPr>
            <a:r>
              <a:t>Ingress  /  + API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239512" y="1929384"/>
            <a:ext cx="2212848" cy="1298448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94960" y="2130552"/>
            <a:ext cx="190195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94960" y="2706624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DD2"/>
                </a:solidFill>
                <a:latin typeface="Arial"/>
              </a:defRPr>
            </a:pPr>
            <a:r>
              <a:t>2–4 Pods via HPA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0" y="1929384"/>
            <a:ext cx="2240280" cy="1298448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7848" y="2130552"/>
            <a:ext cx="1929384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FFFFFF"/>
                </a:solidFill>
                <a:latin typeface="Arial"/>
              </a:defRPr>
            </a:pPr>
            <a:r>
              <a:t>PostgreSQL 17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7848" y="2706624"/>
            <a:ext cx="192938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A9BDD2"/>
                </a:solidFill>
                <a:latin typeface="Arial"/>
              </a:defRPr>
            </a:pPr>
            <a:r>
              <a:t>StatefulSet + PVC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651760" y="2569464"/>
            <a:ext cx="274320" cy="0"/>
          </a:xfrm>
          <a:prstGeom prst="line">
            <a:avLst/>
          </a:prstGeom>
          <a:ln w="25400">
            <a:solidFill>
              <a:srgbClr val="69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hevron 30"/>
          <p:cNvSpPr/>
          <p:nvPr/>
        </p:nvSpPr>
        <p:spPr>
          <a:xfrm>
            <a:off x="2852928" y="2487168"/>
            <a:ext cx="164592" cy="164592"/>
          </a:xfrm>
          <a:prstGeom prst="chevron">
            <a:avLst/>
          </a:prstGeom>
          <a:solidFill>
            <a:srgbClr val="69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4928616" y="2569464"/>
            <a:ext cx="274320" cy="0"/>
          </a:xfrm>
          <a:prstGeom prst="line">
            <a:avLst/>
          </a:prstGeom>
          <a:ln w="25400">
            <a:solidFill>
              <a:srgbClr val="69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5129784" y="2487168"/>
            <a:ext cx="164592" cy="164592"/>
          </a:xfrm>
          <a:prstGeom prst="chevron">
            <a:avLst/>
          </a:prstGeom>
          <a:solidFill>
            <a:srgbClr val="69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>
            <a:off x="7461504" y="2569464"/>
            <a:ext cx="274320" cy="0"/>
          </a:xfrm>
          <a:prstGeom prst="line">
            <a:avLst/>
          </a:prstGeom>
          <a:ln w="25400">
            <a:solidFill>
              <a:srgbClr val="69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Chevron 34"/>
          <p:cNvSpPr/>
          <p:nvPr/>
        </p:nvSpPr>
        <p:spPr>
          <a:xfrm>
            <a:off x="7662672" y="2487168"/>
            <a:ext cx="164592" cy="164592"/>
          </a:xfrm>
          <a:prstGeom prst="chevron">
            <a:avLst/>
          </a:prstGeom>
          <a:solidFill>
            <a:srgbClr val="69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6327648" y="3246120"/>
            <a:ext cx="0" cy="676656"/>
          </a:xfrm>
          <a:prstGeom prst="line">
            <a:avLst/>
          </a:prstGeom>
          <a:ln w="22860">
            <a:solidFill>
              <a:srgbClr val="69D5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85800" y="3977639"/>
            <a:ext cx="3273552" cy="1234440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4178808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9F36D"/>
                </a:solidFill>
                <a:latin typeface="Arial"/>
              </a:defRPr>
            </a:pPr>
            <a:r>
              <a:t>Release control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7824" y="4599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GitHub Actions  →  GHCR  →  Argo CD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78808" y="3977639"/>
            <a:ext cx="3273552" cy="1234440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70832" y="4178808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9F36D"/>
                </a:solidFill>
                <a:latin typeface="Arial"/>
              </a:defRPr>
            </a:pPr>
            <a:r>
              <a:t>Runtime control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70832" y="4599432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Helm · probes · migration Job · Secret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671816" y="3977639"/>
            <a:ext cx="3602736" cy="1234440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0" y="4178808"/>
            <a:ext cx="283464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B9F36D"/>
                </a:solidFill>
                <a:latin typeface="Arial"/>
              </a:defRPr>
            </a:pPr>
            <a:r>
              <a:t>Visibility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863840" y="4599432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  <a:latin typeface="Arial"/>
              </a:defRPr>
            </a:pPr>
            <a:r>
              <a:t>Prometheus  →  Grafana  +  JSON 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650992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CFDBE9"/>
                </a:solidFill>
                <a:latin typeface="Arial"/>
              </a:defRPr>
            </a:pPr>
            <a:r>
              <a:t>Built once as application code; verified in Compose, Kind and AWS EKS.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The database protects the business rules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05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49961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A9679"/>
                </a:solidFill>
                <a:latin typeface="Arial"/>
              </a:defRPr>
            </a:pPr>
            <a:r>
              <a:t>CONCURRENCY IS A PRODUCT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47088"/>
            <a:ext cx="87782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700" b="1">
                <a:solidFill>
                  <a:srgbClr val="182437"/>
                </a:solidFill>
                <a:latin typeface="Arial"/>
              </a:defRPr>
            </a:pPr>
            <a:r>
              <a:t>The final unit can only be borrowed once.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697480"/>
            <a:ext cx="3438144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898648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0D3B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3511296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Lock the asset 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977639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Concurrent requests serialize at PostgreSQL.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1688" y="2697480"/>
            <a:ext cx="3438144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2898648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0D3B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3511296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Apply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1144" y="3977639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Available stock stays between zero and total.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37575" y="2697480"/>
            <a:ext cx="3438144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57031" y="2898648"/>
            <a:ext cx="5943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40D3B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7031" y="3511296"/>
            <a:ext cx="2999232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Keep the record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7031" y="3977639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Double returns and deletion with loan history return 409.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5184648"/>
            <a:ext cx="10808208" cy="676656"/>
          </a:xfrm>
          <a:prstGeom prst="roundRect">
            <a:avLst>
              <a:gd name="adj" fmla="val 10000"/>
            </a:avLst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8" y="5394960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Live PostgreSQL check: one HTTP 201 + one HTTP 409 for simultaneous attempts at the last unit.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153912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Source: README.md · Business behavior; scripts/verify.py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Tests that protect the experience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06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Output/02-api-tests.png · reports/tests.xml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453896"/>
            <a:ext cx="237744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18488"/>
            <a:ext cx="197510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0D3B3"/>
                </a:solidFill>
                <a:latin typeface="Arial"/>
              </a:defRPr>
            </a:pPr>
            <a:r>
              <a:t>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6712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API TESTS PASSED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18688" y="1453896"/>
            <a:ext cx="237744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19856" y="1618488"/>
            <a:ext cx="197510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69D5E8"/>
                </a:solidFill>
                <a:latin typeface="Arial"/>
              </a:defRPr>
            </a:pPr>
            <a:r>
              <a:t>91.71%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16712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API COVERAGE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51576" y="1453896"/>
            <a:ext cx="2377440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52744" y="1618488"/>
            <a:ext cx="1975104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7C66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52744" y="2167128"/>
            <a:ext cx="197510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FRONTEND TESTS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84464" y="1453896"/>
            <a:ext cx="3209544" cy="11338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85632" y="1618488"/>
            <a:ext cx="2807208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786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2167128"/>
            <a:ext cx="2807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REAL DB CONCURRENCY OUTCOMES</a:t>
            </a:r>
          </a:p>
        </p:txBody>
      </p:sp>
      <p:pic>
        <p:nvPicPr>
          <p:cNvPr id="22" name="Picture 21" descr="02-api-tests.png"/>
          <p:cNvPicPr>
            <a:picLocks noChangeAspect="1"/>
          </p:cNvPicPr>
          <p:nvPr/>
        </p:nvPicPr>
        <p:blipFill>
          <a:blip r:embed="rId2"/>
          <a:srcRect t="2582" b="2582"/>
          <a:stretch>
            <a:fillRect/>
          </a:stretch>
        </p:blipFill>
        <p:spPr>
          <a:xfrm>
            <a:off x="685800" y="2907792"/>
            <a:ext cx="6647688" cy="2889504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85800" y="2907792"/>
            <a:ext cx="6647688" cy="2889504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571231" y="2907792"/>
            <a:ext cx="3922776" cy="288950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54696" y="3209544"/>
            <a:ext cx="33375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82437"/>
                </a:solidFill>
                <a:latin typeface="Arial"/>
              </a:defRPr>
            </a:pPr>
            <a:r>
              <a:t>Coverage is one layer.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822191"/>
            <a:ext cx="3182112" cy="1170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1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64748B"/>
                </a:solidFill>
                <a:latin typeface="Arial"/>
              </a:defRPr>
            </a:pPr>
            <a:r>
              <a:t>The suite also checks oversubscription, return idempotency, asset deletion rules, readiness and request correlation.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54696" y="5166360"/>
            <a:ext cx="1591056" cy="310896"/>
          </a:xfrm>
          <a:prstGeom prst="roundRect">
            <a:avLst>
              <a:gd name="adj" fmla="val 10000"/>
            </a:avLst>
          </a:prstGeom>
          <a:solidFill>
            <a:srgbClr val="E6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64423" y="5230368"/>
            <a:ext cx="1371600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45C"/>
                </a:solidFill>
                <a:latin typeface="Arial"/>
              </a:defRPr>
            </a:pPr>
            <a:r>
              <a:t>CI GATE ≥ 85%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A release moves only after both architectures pass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3A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07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9D5E8"/>
                </a:solidFill>
                <a:latin typeface="Arial"/>
              </a:defRPr>
            </a:pPr>
            <a:r>
              <a:t>README.md · CI/CD and DevSecOps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Source SHA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50008" y="3054096"/>
            <a:ext cx="173736" cy="0"/>
          </a:xfrm>
          <a:prstGeom prst="line">
            <a:avLst/>
          </a:prstGeom>
          <a:ln w="25400">
            <a:solidFill>
              <a:srgbClr val="40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Chevron 14"/>
          <p:cNvSpPr/>
          <p:nvPr/>
        </p:nvSpPr>
        <p:spPr>
          <a:xfrm>
            <a:off x="2450591" y="2971800"/>
            <a:ext cx="164592" cy="164592"/>
          </a:xfrm>
          <a:prstGeom prst="chevron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542032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Quality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80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Tests + scans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51960" y="3054096"/>
            <a:ext cx="173736" cy="0"/>
          </a:xfrm>
          <a:prstGeom prst="line">
            <a:avLst/>
          </a:prstGeom>
          <a:ln w="25400">
            <a:solidFill>
              <a:srgbClr val="40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hevron 20"/>
          <p:cNvSpPr/>
          <p:nvPr/>
        </p:nvSpPr>
        <p:spPr>
          <a:xfrm>
            <a:off x="4352544" y="2971800"/>
            <a:ext cx="164592" cy="164592"/>
          </a:xfrm>
          <a:prstGeom prst="chevron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443984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9432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9432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9432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AMD64 + ARM64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153912" y="3054096"/>
            <a:ext cx="173736" cy="0"/>
          </a:xfrm>
          <a:prstGeom prst="line">
            <a:avLst/>
          </a:prstGeom>
          <a:ln w="25400">
            <a:solidFill>
              <a:srgbClr val="40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6254496" y="2971800"/>
            <a:ext cx="164592" cy="164592"/>
          </a:xfrm>
          <a:prstGeom prst="chevron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45936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1384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Verify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01384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2 Kind clusters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55864" y="3054096"/>
            <a:ext cx="173736" cy="0"/>
          </a:xfrm>
          <a:prstGeom prst="line">
            <a:avLst/>
          </a:prstGeom>
          <a:ln w="25400">
            <a:solidFill>
              <a:srgbClr val="40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Chevron 32"/>
          <p:cNvSpPr/>
          <p:nvPr/>
        </p:nvSpPr>
        <p:spPr>
          <a:xfrm>
            <a:off x="8156448" y="2971800"/>
            <a:ext cx="164592" cy="164592"/>
          </a:xfrm>
          <a:prstGeom prst="chevron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247888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03336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03336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Promote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SHA manifests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957816" y="3054096"/>
            <a:ext cx="173736" cy="0"/>
          </a:xfrm>
          <a:prstGeom prst="line">
            <a:avLst/>
          </a:prstGeom>
          <a:ln w="25400">
            <a:solidFill>
              <a:srgbClr val="40D3B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Chevron 38"/>
          <p:cNvSpPr/>
          <p:nvPr/>
        </p:nvSpPr>
        <p:spPr>
          <a:xfrm>
            <a:off x="10058400" y="2971800"/>
            <a:ext cx="164592" cy="164592"/>
          </a:xfrm>
          <a:prstGeom prst="chevron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149840" y="2084831"/>
            <a:ext cx="1691640" cy="200253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F5B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05288" y="2267712"/>
            <a:ext cx="4389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0D3B3"/>
                </a:solidFill>
                <a:latin typeface="Arial"/>
              </a:defRPr>
            </a:pPr>
            <a: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305288" y="2761488"/>
            <a:ext cx="14173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Reconcile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05288" y="3273552"/>
            <a:ext cx="141732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B5C7D9"/>
                </a:solidFill>
                <a:latin typeface="Arial"/>
              </a:defRPr>
            </a:pPr>
            <a:r>
              <a:t>Argo CD → Helm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" y="4681728"/>
            <a:ext cx="10744200" cy="722376"/>
          </a:xfrm>
          <a:prstGeom prst="roundRect">
            <a:avLst>
              <a:gd name="adj" fmla="val 10000"/>
            </a:avLst>
          </a:prstGeom>
          <a:solidFill>
            <a:srgbClr val="17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32688" y="4882896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9D5E8"/>
                </a:solidFill>
                <a:latin typeface="Arial"/>
              </a:defRPr>
            </a:pPr>
            <a:r>
              <a:t>Promotion condition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999232" y="4855464"/>
            <a:ext cx="7973568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Arial"/>
              </a:defRPr>
            </a:pPr>
            <a:r>
              <a:t>Both native deployments pass real application and PostgreSQL checks.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" y="57607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CD9E8"/>
                </a:solidFill>
                <a:latin typeface="Arial"/>
              </a:defRPr>
            </a:pPr>
            <a:r>
              <a:t>Verified image tags become the desired state; Argo CD applies that state to Kubernetes.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Security checks are release gates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08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481328"/>
            <a:ext cx="3438144" cy="18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1682496"/>
            <a:ext cx="73152" cy="310896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0704" y="168249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Source &amp; secrets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139696"/>
            <a:ext cx="3035808" cy="1060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Bandit SAST and Gitleaks scan committed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481328"/>
            <a:ext cx="3438144" cy="18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53712" y="1682496"/>
            <a:ext cx="73152" cy="310896"/>
          </a:xfrm>
          <a:prstGeom prst="rect">
            <a:avLst/>
          </a:prstGeom>
          <a:solidFill>
            <a:srgbClr val="69D5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68249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Dependencies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39696"/>
            <a:ext cx="3035808" cy="1060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pip-audit and npm audit check the recorded dependency snapshot.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65008" y="1481328"/>
            <a:ext cx="3438144" cy="1856231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47888" y="1682496"/>
            <a:ext cx="73152" cy="310896"/>
          </a:xfrm>
          <a:prstGeom prst="rect">
            <a:avLst/>
          </a:prstGeom>
          <a:solidFill>
            <a:srgbClr val="FF78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49056" y="1682496"/>
            <a:ext cx="284378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82437"/>
                </a:solidFill>
                <a:latin typeface="Arial"/>
              </a:defRPr>
            </a:pPr>
            <a:r>
              <a:t>Runtime images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6" y="2139696"/>
            <a:ext cx="3035808" cy="1060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Trivy blocks HIGH and CRITICAL findings for both images on both architectures.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3703320"/>
            <a:ext cx="10826496" cy="1344168"/>
          </a:xfrm>
          <a:prstGeom prst="roundRect">
            <a:avLst>
              <a:gd name="adj" fmla="val 10000"/>
            </a:avLst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6696" y="3922776"/>
            <a:ext cx="91440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4300" b="1">
                <a:solidFill>
                  <a:srgbClr val="B9F36D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56816" y="3986784"/>
            <a:ext cx="484632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FFFFFF"/>
                </a:solidFill>
                <a:latin typeface="Arial"/>
              </a:defRPr>
            </a:pPr>
            <a:r>
              <a:t>HIGH / CRITICAL findings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56816" y="4443984"/>
            <a:ext cx="4846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9C8D9"/>
                </a:solidFill>
                <a:latin typeface="Arial"/>
              </a:defRPr>
            </a:pPr>
            <a:r>
              <a:t>across four CI image reports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74736" y="3950208"/>
            <a:ext cx="2926080" cy="749808"/>
          </a:xfrm>
          <a:prstGeom prst="roundRect">
            <a:avLst>
              <a:gd name="adj" fmla="val 10000"/>
            </a:avLst>
          </a:prstGeom>
          <a:solidFill>
            <a:srgbClr val="2641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48472" y="4178808"/>
            <a:ext cx="260604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9D5E8"/>
                </a:solidFill>
                <a:latin typeface="Arial"/>
              </a:defRPr>
            </a:pPr>
            <a:r>
              <a:t>2 images × 2 architectures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440680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Arial"/>
              </a:defRPr>
            </a:pPr>
            <a:r>
              <a:t>Recorded scan results are point-in-time evidence.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12648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Source: Output/reports/security-summary.json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Kubernetes keeps the service available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09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README.md · Kubernetes and Helm</a:t>
            </a:r>
          </a:p>
        </p:txBody>
      </p:sp>
      <p:pic>
        <p:nvPicPr>
          <p:cNvPr id="10" name="Picture 9" descr="11-helm-and-kubernetes.png"/>
          <p:cNvPicPr>
            <a:picLocks noChangeAspect="1"/>
          </p:cNvPicPr>
          <p:nvPr/>
        </p:nvPicPr>
        <p:blipFill>
          <a:blip r:embed="rId2"/>
          <a:srcRect l="18936" r="18936"/>
          <a:stretch>
            <a:fillRect/>
          </a:stretch>
        </p:blipFill>
        <p:spPr>
          <a:xfrm>
            <a:off x="676656" y="1463040"/>
            <a:ext cx="5961888" cy="439826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463040"/>
            <a:ext cx="5961888" cy="4398264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894576" y="1472184"/>
            <a:ext cx="46085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23176" y="1636776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9D7F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71816" y="1609344"/>
            <a:ext cx="3383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Replicas + probes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6" y="2057400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Two frontend Pods; backend starts at two and scales to four.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94576" y="2953512"/>
            <a:ext cx="46085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23176" y="3118104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9D7F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71816" y="3090672"/>
            <a:ext cx="3383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Ordered schema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71816" y="3538728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Alembic migration Job runs before the application release.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94576" y="4434840"/>
            <a:ext cx="4608576" cy="131673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23176" y="4599432"/>
            <a:ext cx="457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E9D7F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71816" y="4572000"/>
            <a:ext cx="3383280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182437"/>
                </a:solidFill>
                <a:latin typeface="Arial"/>
              </a:defRPr>
            </a:pPr>
            <a:r>
              <a:t>Stateful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1816" y="5020056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Arial"/>
              </a:defRPr>
            </a:pPr>
            <a:r>
              <a:t>PostgreSQL uses a bound 2 GiB PVC; credentials stay in an external Secret.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71616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Screenshot: Helm and Kubernetes verification from the local lab.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A complete AWS run, then a verified teardown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3A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10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9D5E8"/>
                </a:solidFill>
                <a:latin typeface="Arial"/>
              </a:defRPr>
            </a:pPr>
            <a:r>
              <a:t>Output/43, 49, 55, 56 · AWS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1417320"/>
            <a:ext cx="2304288" cy="113385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158191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B9F36D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13055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E9F5"/>
                </a:solidFill>
                <a:latin typeface="Arial"/>
              </a:defRPr>
            </a:pPr>
            <a:r>
              <a:t>TERRAFORM RESOURCES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63824" y="1417320"/>
            <a:ext cx="2304288" cy="113385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158191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69D5E8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213055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E9F5"/>
                </a:solidFill>
                <a:latin typeface="Arial"/>
              </a:defRPr>
            </a:pPr>
            <a:r>
              <a:t>EKS WORKER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32704" y="1417320"/>
            <a:ext cx="2304288" cy="113385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33872" y="1581912"/>
            <a:ext cx="190195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40D3B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33872" y="2130552"/>
            <a:ext cx="190195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E9F5"/>
                </a:solidFill>
                <a:latin typeface="Arial"/>
              </a:defRPr>
            </a:pPr>
            <a:r>
              <a:t>PUBLIC SUBNETS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3" y="1417320"/>
            <a:ext cx="3401568" cy="1133856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1581912"/>
            <a:ext cx="2999232" cy="448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7C66A"/>
                </a:solidFill>
                <a:latin typeface="Arial"/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02752" y="2130552"/>
            <a:ext cx="29992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DE9F5"/>
                </a:solidFill>
                <a:latin typeface="Arial"/>
              </a:defRPr>
            </a:pPr>
            <a:r>
              <a:t>TARGET RESOURCES AFTER CLEANUP</a:t>
            </a:r>
          </a:p>
        </p:txBody>
      </p:sp>
      <p:pic>
        <p:nvPicPr>
          <p:cNvPr id="22" name="Picture 21" descr="43-aws-live-plan.png"/>
          <p:cNvPicPr>
            <a:picLocks noChangeAspect="1"/>
          </p:cNvPicPr>
          <p:nvPr/>
        </p:nvPicPr>
        <p:blipFill>
          <a:blip r:embed="rId2"/>
          <a:srcRect l="2538" r="2538"/>
          <a:stretch>
            <a:fillRect/>
          </a:stretch>
        </p:blipFill>
        <p:spPr>
          <a:xfrm>
            <a:off x="694944" y="2852928"/>
            <a:ext cx="3447288" cy="2423160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694944" y="2852928"/>
            <a:ext cx="3447288" cy="2423160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49-aws-application-browser.png"/>
          <p:cNvPicPr>
            <a:picLocks noChangeAspect="1"/>
          </p:cNvPicPr>
          <p:nvPr/>
        </p:nvPicPr>
        <p:blipFill>
          <a:blip r:embed="rId3"/>
          <a:srcRect l="9148" r="9148"/>
          <a:stretch>
            <a:fillRect/>
          </a:stretch>
        </p:blipFill>
        <p:spPr>
          <a:xfrm>
            <a:off x="4370832" y="2852928"/>
            <a:ext cx="3447288" cy="242316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370832" y="2852928"/>
            <a:ext cx="3447288" cy="2423160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56-aws-cleanup-verified.png"/>
          <p:cNvPicPr>
            <a:picLocks noChangeAspect="1"/>
          </p:cNvPicPr>
          <p:nvPr/>
        </p:nvPicPr>
        <p:blipFill>
          <a:blip r:embed="rId4"/>
          <a:srcRect l="2538" r="2538"/>
          <a:stretch>
            <a:fillRect/>
          </a:stretch>
        </p:blipFill>
        <p:spPr>
          <a:xfrm>
            <a:off x="8037575" y="2852928"/>
            <a:ext cx="3447288" cy="242316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8037575" y="2852928"/>
            <a:ext cx="3447288" cy="2423160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94944" y="5431536"/>
            <a:ext cx="3447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PLAN · 21 ADDITIONS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0832" y="5431536"/>
            <a:ext cx="3447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LIVE APPLICATION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37575" y="5431536"/>
            <a:ext cx="344728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ABSENCE CHECKS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5897880"/>
            <a:ext cx="107899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D4E0ED"/>
                </a:solidFill>
                <a:latin typeface="Arial"/>
              </a:defRPr>
            </a:pPr>
            <a:r>
              <a:t>15 Oct 2026 · Sydney (ap-southeast-2) · temporary deployment removed after evidence collection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Observability follows each request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11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Arial"/>
              </a:defRPr>
            </a:pPr>
            <a:r>
              <a:t>Output/53-aws-grafana-dashboard.png</a:t>
            </a:r>
          </a:p>
        </p:txBody>
      </p:sp>
      <p:pic>
        <p:nvPicPr>
          <p:cNvPr id="10" name="Picture 9" descr="53-aws-grafana-dashboard.png"/>
          <p:cNvPicPr>
            <a:picLocks noChangeAspect="1"/>
          </p:cNvPicPr>
          <p:nvPr/>
        </p:nvPicPr>
        <p:blipFill>
          <a:blip r:embed="rId2"/>
          <a:srcRect t="2475" b="2475"/>
          <a:stretch>
            <a:fillRect/>
          </a:stretch>
        </p:blipFill>
        <p:spPr>
          <a:xfrm>
            <a:off x="676656" y="1463040"/>
            <a:ext cx="7324344" cy="44622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76656" y="1463040"/>
            <a:ext cx="7324344" cy="4462272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47888" y="1463040"/>
            <a:ext cx="3246120" cy="44622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513064" y="1728216"/>
            <a:ext cx="1645920" cy="310896"/>
          </a:xfrm>
          <a:prstGeom prst="roundRect">
            <a:avLst>
              <a:gd name="adj" fmla="val 10000"/>
            </a:avLst>
          </a:prstGeom>
          <a:solidFill>
            <a:srgbClr val="E5F7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22792" y="1792224"/>
            <a:ext cx="1426464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8745C"/>
                </a:solidFill>
                <a:latin typeface="Arial"/>
              </a:defRPr>
            </a:pPr>
            <a:r>
              <a:t>SIX LIVE PANELS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13064" y="2267712"/>
            <a:ext cx="2606040" cy="704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182437"/>
                </a:solidFill>
                <a:latin typeface="Arial"/>
              </a:defRPr>
            </a:pPr>
            <a:r>
              <a:t>From traffic to cause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13064" y="2980944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9D7F"/>
                </a:solidFill>
                <a:latin typeface="Arial"/>
              </a:defRPr>
            </a:pPr>
            <a:r>
              <a:t>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4" y="3182112"/>
            <a:ext cx="2697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Requests + p95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13064" y="3602736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9D7F"/>
                </a:solidFill>
                <a:latin typeface="Arial"/>
              </a:defRPr>
            </a:pPr>
            <a:r>
              <a:t>Health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13064" y="3803904"/>
            <a:ext cx="2697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Two backend targets 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13064" y="4224528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9D7F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13064" y="4425696"/>
            <a:ext cx="2697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Process CPU + memory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13064" y="484632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E9D7F"/>
                </a:solidFill>
                <a:latin typeface="Arial"/>
              </a:defRPr>
            </a:pPr>
            <a:r>
              <a:t>Traceability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3064" y="5047488"/>
            <a:ext cx="2697480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4748B"/>
                </a:solidFill>
                <a:latin typeface="Arial"/>
              </a:defRPr>
            </a:pPr>
            <a:r>
              <a:t>Request ID + release SHA in JSON logs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099048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Arial"/>
              </a:defRPr>
            </a:pPr>
            <a:r>
              <a:t>Prometheus scraped the EKS backend Pods; Grafana history was temporary.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GitOps closes the loop from code to cluster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3A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12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9D5E8"/>
                </a:solidFill>
                <a:latin typeface="Arial"/>
              </a:defRPr>
            </a:pPr>
            <a:r>
              <a:t>README.md · GitOps and demonstrated release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517904"/>
            <a:ext cx="5184648" cy="4416552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551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10512"/>
            <a:ext cx="4526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>
                <a:solidFill>
                  <a:srgbClr val="B9F36D"/>
                </a:solidFill>
                <a:latin typeface="Arial"/>
              </a:defRPr>
            </a:pPr>
            <a:r>
              <a:t>Verified release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395728"/>
            <a:ext cx="4535424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9faeab4…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45536"/>
            <a:ext cx="4407408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C9D6E5"/>
                </a:solidFill>
                <a:latin typeface="Arial"/>
              </a:defRPr>
            </a:pPr>
            <a:r>
              <a:t>Feature: available-only inventory filter + searchable lending history.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0120" y="4251960"/>
            <a:ext cx="4526280" cy="0"/>
          </a:xfrm>
          <a:prstGeom prst="line">
            <a:avLst/>
          </a:prstGeom>
          <a:ln w="12700">
            <a:solidFill>
              <a:srgbClr val="3E59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960120" y="4480560"/>
            <a:ext cx="4462272" cy="9418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CI writes verified image tags to Git. Argo CD sees the commit and reconciles Helm resources.</a:t>
            </a:r>
          </a:p>
        </p:txBody>
      </p:sp>
      <p:pic>
        <p:nvPicPr>
          <p:cNvPr id="16" name="Picture 15" descr="36-gitops-final-browser.png"/>
          <p:cNvPicPr>
            <a:picLocks noChangeAspect="1"/>
          </p:cNvPicPr>
          <p:nvPr/>
        </p:nvPicPr>
        <p:blipFill>
          <a:blip r:embed="rId2"/>
          <a:srcRect l="13112" r="13112"/>
          <a:stretch>
            <a:fillRect/>
          </a:stretch>
        </p:blipFill>
        <p:spPr>
          <a:xfrm>
            <a:off x="6126480" y="1517904"/>
            <a:ext cx="5358384" cy="441655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6126480" y="1517904"/>
            <a:ext cx="5358384" cy="4416552"/>
          </a:xfrm>
          <a:prstGeom prst="rect">
            <a:avLst/>
          </a:prstGeom>
          <a:noFill/>
          <a:ln w="8890">
            <a:solidFill>
              <a:srgbClr val="CFD9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6080760"/>
            <a:ext cx="5358384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EC0D3"/>
                </a:solidFill>
                <a:latin typeface="Arial"/>
              </a:defRPr>
            </a:pPr>
            <a:r>
              <a:t>Synced / Healthy after migration and rollout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4748B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82437"/>
                </a:solidFill>
                <a:latin typeface="Arial"/>
              </a:defRPr>
            </a:pPr>
            <a:r>
              <a:t>Four failures, four demonstrated recoveries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DDE5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4748B"/>
                </a:solidFill>
                <a:latin typeface="Arial"/>
              </a:defRPr>
            </a:pPr>
            <a:r>
              <a:t>13 / 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508760"/>
            <a:ext cx="5294376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50392" y="1737360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FF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883664"/>
            <a:ext cx="3291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54B4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1728216"/>
            <a:ext cx="41239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437"/>
                </a:solidFill>
                <a:latin typeface="Arial"/>
              </a:defRPr>
            </a:pPr>
            <a:r>
              <a:t>Invalid image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2221991"/>
            <a:ext cx="40507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SIGNAL  Pod pull fails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2660904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69"/>
                </a:solidFill>
                <a:latin typeface="Arial"/>
              </a:defRPr>
            </a:pPr>
            <a:r>
              <a:t>FIX  Restore verified SHA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508760"/>
            <a:ext cx="5294376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382512" y="1737360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FF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883664"/>
            <a:ext cx="3291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54B48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1728216"/>
            <a:ext cx="41239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437"/>
                </a:solidFill>
                <a:latin typeface="Arial"/>
              </a:defRPr>
            </a:pPr>
            <a:r>
              <a:t>Wrong selector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2221991"/>
            <a:ext cx="40507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SIGNAL  No backend endpoints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2660904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69"/>
                </a:solidFill>
                <a:latin typeface="Arial"/>
              </a:defRPr>
            </a:pPr>
            <a:r>
              <a:t>FIX  Restore app label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6656" y="3602736"/>
            <a:ext cx="5294376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3831335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FF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3977639"/>
            <a:ext cx="3291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54B4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3822191"/>
            <a:ext cx="41239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437"/>
                </a:solidFill>
                <a:latin typeface="Arial"/>
              </a:defRPr>
            </a:pPr>
            <a:r>
              <a:t>Wrong 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7048" y="4315968"/>
            <a:ext cx="40507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SIGNAL  Ingress returns 502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7048" y="4754880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69"/>
                </a:solidFill>
                <a:latin typeface="Arial"/>
              </a:defRPr>
            </a:pPr>
            <a:r>
              <a:t>FIX  Route to port 8000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8776" y="3602736"/>
            <a:ext cx="5294376" cy="18836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82512" y="3831335"/>
            <a:ext cx="521207" cy="521207"/>
          </a:xfrm>
          <a:prstGeom prst="roundRect">
            <a:avLst>
              <a:gd name="adj" fmla="val 10000"/>
            </a:avLst>
          </a:prstGeom>
          <a:solidFill>
            <a:srgbClr val="FFE8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92240" y="3977639"/>
            <a:ext cx="32918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C54B4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59168" y="3822191"/>
            <a:ext cx="412394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82437"/>
                </a:solidFill>
                <a:latin typeface="Arial"/>
              </a:defRPr>
            </a:pPr>
            <a:r>
              <a:t>Database down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59168" y="4315968"/>
            <a:ext cx="4050791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4748B"/>
                </a:solidFill>
                <a:latin typeface="Arial"/>
              </a:defRPr>
            </a:pPr>
            <a:r>
              <a:t>SIGNAL  Ready returns 503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59168" y="4754880"/>
            <a:ext cx="40507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87F69"/>
                </a:solidFill>
                <a:latin typeface="Arial"/>
              </a:defRPr>
            </a:pPr>
            <a:r>
              <a:t>FIX  Restore StatefulSet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897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4748B"/>
                </a:solidFill>
                <a:latin typeface="Arial"/>
              </a:defRPr>
            </a:pPr>
            <a:r>
              <a:t>Each fault has a screenshot pair, command transcript, root cause and verification in troubleshooting/README.md.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73152" cy="384048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640080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9D5E8"/>
                </a:solidFill>
                <a:latin typeface="Arial"/>
              </a:defRPr>
            </a:pPr>
            <a:r>
              <a:t>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77240"/>
            <a:ext cx="10881360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FFFFFF"/>
                </a:solidFill>
                <a:latin typeface="Arial"/>
              </a:defRPr>
            </a:pPr>
            <a:r>
              <a:t>The evidence trail is part of the deliverable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58368" y="6473952"/>
            <a:ext cx="10872216" cy="0"/>
          </a:xfrm>
          <a:prstGeom prst="line">
            <a:avLst/>
          </a:prstGeom>
          <a:ln w="10160">
            <a:solidFill>
              <a:srgbClr val="3A4C6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58368" y="6547104"/>
            <a:ext cx="45720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LABLEDGER  /  SHIVAM JAISWAL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0" y="6537960"/>
            <a:ext cx="822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9D5E8"/>
                </a:solidFill>
                <a:latin typeface="Arial"/>
              </a:defRPr>
            </a:pPr>
            <a:r>
              <a:t>14 /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537960"/>
            <a:ext cx="4114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9D5E8"/>
                </a:solidFill>
                <a:latin typeface="Arial"/>
              </a:defRPr>
            </a:pPr>
            <a:r>
              <a:t>Output/README.md · screenshot-verification.json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09344"/>
            <a:ext cx="3429000" cy="1837943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85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1847088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B9F36D"/>
                </a:solidFill>
                <a:latin typeface="Arial"/>
              </a:defRPr>
            </a:pPr>
            <a:r>
              <a:t>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10512" y="1947672"/>
            <a:ext cx="2057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SCREENSHOTS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" y="2596896"/>
            <a:ext cx="290779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AD8E6"/>
                </a:solidFill>
                <a:latin typeface="Arial"/>
              </a:defRPr>
            </a:pPr>
            <a:r>
              <a:t>Application, tests, CI, cluster, cloud and cleanup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70832" y="1609344"/>
            <a:ext cx="3429000" cy="1837943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85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847088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B9F36D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95544" y="1947672"/>
            <a:ext cx="2057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FAULT PLAYBOOKS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90288" y="2596896"/>
            <a:ext cx="290779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AD8E6"/>
                </a:solidFill>
                <a:latin typeface="Arial"/>
              </a:defRPr>
            </a:pPr>
            <a:r>
              <a:t>Image, Service, Ingress and database recovery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609344"/>
            <a:ext cx="3429000" cy="1837943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 w="12700">
            <a:solidFill>
              <a:srgbClr val="3855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847088"/>
            <a:ext cx="10058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500" b="1">
                <a:solidFill>
                  <a:srgbClr val="B9F36D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80576" y="1947672"/>
            <a:ext cx="2057400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RELEASES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596896"/>
            <a:ext cx="2907792" cy="576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AD8E6"/>
                </a:solidFill>
                <a:latin typeface="Arial"/>
              </a:defRPr>
            </a:pPr>
            <a:r>
              <a:t>Verified feature change and GitOps promotion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3849624"/>
            <a:ext cx="10817352" cy="1572768"/>
          </a:xfrm>
          <a:prstGeom prst="roundRect">
            <a:avLst>
              <a:gd name="adj" fmla="val 10000"/>
            </a:avLst>
          </a:prstGeom>
          <a:solidFill>
            <a:srgbClr val="1732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" y="4096512"/>
            <a:ext cx="2450592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Operating limits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" y="4562856"/>
            <a:ext cx="9939528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DDCEB"/>
                </a:solidFill>
                <a:latin typeface="Arial"/>
              </a:defRPr>
            </a:pPr>
            <a:r>
              <a:t>Classroom lab with synthetic data and HTTP. Production work would add authentication, TLS, managed backups, signed images, durable metrics and alert delivery.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5815584"/>
            <a:ext cx="1065276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B9F36D"/>
                </a:solidFill>
                <a:latin typeface="Arial"/>
              </a:defRPr>
            </a:pPr>
            <a:r>
              <a:t>The AWS endpoint shown in screenshots is historical; the cluster and its resources were deleted.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4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94944" y="667512"/>
            <a:ext cx="100584" cy="448056"/>
          </a:xfrm>
          <a:prstGeom prst="rect">
            <a:avLst/>
          </a:prstGeom>
          <a:solidFill>
            <a:srgbClr val="40D3B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23544" y="740664"/>
            <a:ext cx="6400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9D5E8"/>
                </a:solidFill>
                <a:latin typeface="Arial"/>
              </a:defRPr>
            </a:pPr>
            <a:r>
              <a:t>LABLEDGER  /  FINAL DEVOPS CAPSTONE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453896"/>
            <a:ext cx="106984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Built. Verified. Deployed. Recovered.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108960"/>
            <a:ext cx="96012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B9F36D"/>
                </a:solidFill>
                <a:latin typeface="Arial"/>
              </a:defRPr>
            </a:pPr>
            <a:r>
              <a:t>And cleaned up with proof.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4087368"/>
            <a:ext cx="10753344" cy="0"/>
          </a:xfrm>
          <a:prstGeom prst="line">
            <a:avLst/>
          </a:prstGeom>
          <a:ln w="15240">
            <a:solidFill>
              <a:srgbClr val="3D58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4507992"/>
            <a:ext cx="10771632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D2DFED"/>
                </a:solidFill>
                <a:latin typeface="Arial"/>
              </a:defRPr>
            </a:pPr>
            <a:r>
              <a:t>20 API tests   ·   91.71% coverage   ·   2 architectures   ·   21 AWS resources   ·   4 fault recoveries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5623560"/>
            <a:ext cx="10744200" cy="557784"/>
          </a:xfrm>
          <a:prstGeom prst="roundRect">
            <a:avLst>
              <a:gd name="adj" fmla="val 10000"/>
            </a:avLst>
          </a:prstGeom>
          <a:solidFill>
            <a:srgbClr val="15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5797296"/>
            <a:ext cx="1026871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9D5E8"/>
                </a:solidFill>
                <a:latin typeface="Arial"/>
              </a:defRPr>
            </a:pPr>
            <a:r>
              <a:t>Source and full evidence: final-devops-project/README.md + Output/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6428232"/>
            <a:ext cx="6400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A7B9CD"/>
                </a:solidFill>
                <a:latin typeface="Arial"/>
              </a:defRPr>
            </a:pPr>
            <a:r>
              <a:t>Shivam Jaiswal  ·  Session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LabLedger — Final DevOps Capstone</dc:title>
  <dc:subject>Evidence-backed presentation of the final-devops-project</dc:subject>
  <dc:creator>Shivam Jaiswal</dc:creator>
  <cp:keywords>LabLedger, DevOps, Kubernetes, GitOps, AWS EKS, Terraform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